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customXml" Target="../customXml/item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&lt;!--pageType:table_of_contents--&gt;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&lt;!--pageType:final--&gt;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cover-title|s=$coverTitle"/>
          <p:cNvSpPr txBox="1"/>
          <p:nvPr/>
        </p:nvSpPr>
        <p:spPr>
          <a:xfrm>
            <a:off x="1333500" y="2095500"/>
            <a:ext cx="952500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3600" noProof="1">
                <a:solidFill>
                  <a:srgbClr val="1C1917"/>
                </a:solidFill>
                <a:latin typeface="Oranienbaum"/>
                <a:ea typeface="Oranienbaum"/>
              </a:rPr>
              <a:t>Corpass</a:t>
            </a:r>
          </a:p>
        </p:txBody>
      </p:sp>
      <p:cxnSp>
        <p:nvCxnSpPr>
          <p:cNvPr id="3" name="dsl:cover-line"/>
          <p:cNvCxnSpPr/>
          <p:nvPr/>
        </p:nvCxnSpPr>
        <p:spPr>
          <a:xfrm>
            <a:off x="4667250" y="2952750"/>
            <a:ext cx="2857500" cy="0"/>
          </a:xfrm>
          <a:prstGeom prst="straightConnector1">
            <a:avLst/>
          </a:prstGeom>
          <a:ln w="25400">
            <a:solidFill>
              <a:srgbClr val="A16207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sl:cover-subtitle|s=$subtitle"/>
          <p:cNvSpPr txBox="1"/>
          <p:nvPr/>
        </p:nvSpPr>
        <p:spPr>
          <a:xfrm>
            <a:off x="1333500" y="3143250"/>
            <a:ext cx="95250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sz="1500" noProof="1">
                <a:solidFill>
                  <a:srgbClr val="64748B"/>
                </a:solidFill>
                <a:latin typeface="Liter"/>
                <a:ea typeface="Liter"/>
              </a:rPr>
              <a:t>Corporate Procurement &amp; Asset Management Platform</a:t>
            </a:r>
          </a:p>
          <a:p>
            <a:pPr algn="ctr">
              <a:lnSpc>
                <a:spcPct val="150000"/>
              </a:lnSpc>
            </a:pPr>
            <a:r>
              <a:rPr sz="1200" noProof="1">
                <a:solidFill>
                  <a:srgbClr val="64748B"/>
                </a:solidFill>
                <a:latin typeface="Liter"/>
                <a:ea typeface="Liter"/>
              </a:rPr>
              <a:t>Where verified sellers meet enterprise buyers</a:t>
            </a:r>
          </a:p>
        </p:txBody>
      </p:sp>
      <p:sp>
        <p:nvSpPr>
          <p:cNvPr id="5" name="dsl:cover-tagline"/>
          <p:cNvSpPr txBox="1"/>
          <p:nvPr/>
        </p:nvSpPr>
        <p:spPr>
          <a:xfrm>
            <a:off x="3238500" y="4476750"/>
            <a:ext cx="5715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 spc="150">
                <a:solidFill>
                  <a:srgbClr val="64748B"/>
                </a:solidFill>
                <a:latin typeface="Liter"/>
                <a:ea typeface="Liter"/>
              </a:rPr>
              <a:t>DISCOVER  ·  NEGOTIATE  ·  PURCHASE  · 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c-label"/>
          <p:cNvSpPr txBox="1"/>
          <p:nvPr/>
        </p:nvSpPr>
        <p:spPr>
          <a:xfrm>
            <a:off x="571500" y="571500"/>
            <a:ext cx="1905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00" noProof="1" spc="225">
                <a:solidFill>
                  <a:srgbClr val="64748B"/>
                </a:solidFill>
                <a:latin typeface="Liter"/>
                <a:ea typeface="Liter"/>
              </a:rPr>
              <a:t>OVERVIEW</a:t>
            </a:r>
          </a:p>
        </p:txBody>
      </p:sp>
      <p:sp>
        <p:nvSpPr>
          <p:cNvPr id="3" name="dsl:toc-heading"/>
          <p:cNvSpPr txBox="1"/>
          <p:nvPr/>
        </p:nvSpPr>
        <p:spPr>
          <a:xfrm>
            <a:off x="571500" y="1047750"/>
            <a:ext cx="3810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700" noProof="1">
                <a:solidFill>
                  <a:srgbClr val="1C1917"/>
                </a:solidFill>
                <a:latin typeface="Oranienbaum"/>
                <a:ea typeface="Oranienbaum"/>
              </a:rPr>
              <a:t>Contents</a:t>
            </a:r>
          </a:p>
        </p:txBody>
      </p:sp>
      <p:cxnSp>
        <p:nvCxnSpPr>
          <p:cNvPr id="4" name="dsl:toc-line"/>
          <p:cNvCxnSpPr/>
          <p:nvPr/>
        </p:nvCxnSpPr>
        <p:spPr>
          <a:xfrm>
            <a:off x="571500" y="1809750"/>
            <a:ext cx="762000" cy="0"/>
          </a:xfrm>
          <a:prstGeom prst="straightConnector1">
            <a:avLst/>
          </a:prstGeom>
          <a:ln w="25400">
            <a:solidFill>
              <a:srgbClr val="A16207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sl:toc-ch1"/>
          <p:cNvSpPr txBox="1"/>
          <p:nvPr/>
        </p:nvSpPr>
        <p:spPr>
          <a:xfrm>
            <a:off x="571500" y="2381250"/>
            <a:ext cx="4953000" cy="476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2100" noProof="1">
                <a:solidFill>
                  <a:srgbClr val="A16207"/>
                </a:solidFill>
                <a:latin typeface="Oranienbaum"/>
                <a:ea typeface="Oranienbaum"/>
              </a:rPr>
              <a:t>01</a:t>
            </a:r>
            <a:r>
              <a:rPr sz="1350" noProof="1">
                <a:solidFill>
                  <a:srgbClr val="1C1917"/>
                </a:solidFill>
                <a:latin typeface="Liter"/>
                <a:ea typeface="Liter"/>
              </a:rPr>
              <a:t>   </a:t>
            </a:r>
            <a:r>
              <a:rPr sz="1350" noProof="1">
                <a:solidFill>
                  <a:srgbClr val="1C1917"/>
                </a:solidFill>
                <a:latin typeface="Liter"/>
                <a:ea typeface="Liter"/>
              </a:rPr>
              <a:t>The Problem</a:t>
            </a:r>
          </a:p>
        </p:txBody>
      </p:sp>
      <p:sp>
        <p:nvSpPr>
          <p:cNvPr id="6" name="dsl:toc-ch2"/>
          <p:cNvSpPr txBox="1"/>
          <p:nvPr/>
        </p:nvSpPr>
        <p:spPr>
          <a:xfrm>
            <a:off x="571500" y="2952750"/>
            <a:ext cx="4953000" cy="476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2100" noProof="1">
                <a:solidFill>
                  <a:srgbClr val="A16207"/>
                </a:solidFill>
                <a:latin typeface="Oranienbaum"/>
                <a:ea typeface="Oranienbaum"/>
              </a:rPr>
              <a:t>02</a:t>
            </a:r>
            <a:r>
              <a:rPr sz="1350" noProof="1">
                <a:solidFill>
                  <a:srgbClr val="1C1917"/>
                </a:solidFill>
                <a:latin typeface="Liter"/>
                <a:ea typeface="Liter"/>
              </a:rPr>
              <a:t>   </a:t>
            </a:r>
            <a:r>
              <a:rPr sz="1350" noProof="1">
                <a:solidFill>
                  <a:srgbClr val="1C1917"/>
                </a:solidFill>
                <a:latin typeface="Liter"/>
                <a:ea typeface="Liter"/>
              </a:rPr>
              <a:t>The Solution</a:t>
            </a:r>
          </a:p>
        </p:txBody>
      </p:sp>
      <p:sp>
        <p:nvSpPr>
          <p:cNvPr id="7" name="dsl:toc-ch3"/>
          <p:cNvSpPr txBox="1"/>
          <p:nvPr/>
        </p:nvSpPr>
        <p:spPr>
          <a:xfrm>
            <a:off x="571500" y="3524250"/>
            <a:ext cx="4953000" cy="476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2100" noProof="1">
                <a:solidFill>
                  <a:srgbClr val="A16207"/>
                </a:solidFill>
                <a:latin typeface="Oranienbaum"/>
                <a:ea typeface="Oranienbaum"/>
              </a:rPr>
              <a:t>03</a:t>
            </a:r>
            <a:r>
              <a:rPr sz="1350" noProof="1">
                <a:solidFill>
                  <a:srgbClr val="1C1917"/>
                </a:solidFill>
                <a:latin typeface="Liter"/>
                <a:ea typeface="Liter"/>
              </a:rPr>
              <a:t>   </a:t>
            </a:r>
            <a:r>
              <a:rPr sz="1350" noProof="1">
                <a:solidFill>
                  <a:srgbClr val="1C1917"/>
                </a:solidFill>
                <a:latin typeface="Liter"/>
                <a:ea typeface="Liter"/>
              </a:rPr>
              <a:t>For Buyers</a:t>
            </a:r>
          </a:p>
        </p:txBody>
      </p:sp>
      <p:sp>
        <p:nvSpPr>
          <p:cNvPr id="8" name="dsl:toc-ch4"/>
          <p:cNvSpPr txBox="1"/>
          <p:nvPr/>
        </p:nvSpPr>
        <p:spPr>
          <a:xfrm>
            <a:off x="571500" y="4095750"/>
            <a:ext cx="4953000" cy="476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2100" noProof="1">
                <a:solidFill>
                  <a:srgbClr val="A16207"/>
                </a:solidFill>
                <a:latin typeface="Oranienbaum"/>
                <a:ea typeface="Oranienbaum"/>
              </a:rPr>
              <a:t>04</a:t>
            </a:r>
            <a:r>
              <a:rPr sz="1350" noProof="1">
                <a:solidFill>
                  <a:srgbClr val="1C1917"/>
                </a:solidFill>
                <a:latin typeface="Liter"/>
                <a:ea typeface="Liter"/>
              </a:rPr>
              <a:t>   </a:t>
            </a:r>
            <a:r>
              <a:rPr sz="1350" noProof="1">
                <a:solidFill>
                  <a:srgbClr val="1C1917"/>
                </a:solidFill>
                <a:latin typeface="Liter"/>
                <a:ea typeface="Liter"/>
              </a:rPr>
              <a:t>For Sellers</a:t>
            </a:r>
          </a:p>
        </p:txBody>
      </p:sp>
      <p:sp>
        <p:nvSpPr>
          <p:cNvPr id="9" name="dsl:toc-ch5"/>
          <p:cNvSpPr txBox="1"/>
          <p:nvPr/>
        </p:nvSpPr>
        <p:spPr>
          <a:xfrm>
            <a:off x="5905500" y="2381250"/>
            <a:ext cx="4953000" cy="476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2100" noProof="1">
                <a:solidFill>
                  <a:srgbClr val="A16207"/>
                </a:solidFill>
                <a:latin typeface="Oranienbaum"/>
                <a:ea typeface="Oranienbaum"/>
              </a:rPr>
              <a:t>05</a:t>
            </a:r>
            <a:r>
              <a:rPr sz="1350" noProof="1">
                <a:solidFill>
                  <a:srgbClr val="1C1917"/>
                </a:solidFill>
                <a:latin typeface="Liter"/>
                <a:ea typeface="Liter"/>
              </a:rPr>
              <a:t>   </a:t>
            </a:r>
            <a:r>
              <a:rPr sz="1350" noProof="1">
                <a:solidFill>
                  <a:srgbClr val="1C1917"/>
                </a:solidFill>
                <a:latin typeface="Liter"/>
                <a:ea typeface="Liter"/>
              </a:rPr>
              <a:t>How It Works</a:t>
            </a:r>
          </a:p>
        </p:txBody>
      </p:sp>
      <p:sp>
        <p:nvSpPr>
          <p:cNvPr id="10" name="dsl:toc-ch6"/>
          <p:cNvSpPr txBox="1"/>
          <p:nvPr/>
        </p:nvSpPr>
        <p:spPr>
          <a:xfrm>
            <a:off x="5905500" y="2952750"/>
            <a:ext cx="4953000" cy="476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2100" noProof="1">
                <a:solidFill>
                  <a:srgbClr val="A16207"/>
                </a:solidFill>
                <a:latin typeface="Oranienbaum"/>
                <a:ea typeface="Oranienbaum"/>
              </a:rPr>
              <a:t>06</a:t>
            </a:r>
            <a:r>
              <a:rPr sz="1350" noProof="1">
                <a:solidFill>
                  <a:srgbClr val="1C1917"/>
                </a:solidFill>
                <a:latin typeface="Liter"/>
                <a:ea typeface="Liter"/>
              </a:rPr>
              <a:t>   </a:t>
            </a:r>
            <a:r>
              <a:rPr sz="1350" noProof="1">
                <a:solidFill>
                  <a:srgbClr val="1C1917"/>
                </a:solidFill>
                <a:latin typeface="Liter"/>
                <a:ea typeface="Liter"/>
              </a:rPr>
              <a:t>Business Model</a:t>
            </a:r>
          </a:p>
        </p:txBody>
      </p:sp>
      <p:sp>
        <p:nvSpPr>
          <p:cNvPr id="11" name="dsl:toc-ch7"/>
          <p:cNvSpPr txBox="1"/>
          <p:nvPr/>
        </p:nvSpPr>
        <p:spPr>
          <a:xfrm>
            <a:off x="5905500" y="3524250"/>
            <a:ext cx="4953000" cy="476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2100" noProof="1">
                <a:solidFill>
                  <a:srgbClr val="A16207"/>
                </a:solidFill>
                <a:latin typeface="Oranienbaum"/>
                <a:ea typeface="Oranienbaum"/>
              </a:rPr>
              <a:t>07</a:t>
            </a:r>
            <a:r>
              <a:rPr sz="1350" noProof="1">
                <a:solidFill>
                  <a:srgbClr val="1C1917"/>
                </a:solidFill>
                <a:latin typeface="Liter"/>
                <a:ea typeface="Liter"/>
              </a:rPr>
              <a:t>   </a:t>
            </a:r>
            <a:r>
              <a:rPr sz="1350" noProof="1">
                <a:solidFill>
                  <a:srgbClr val="1C1917"/>
                </a:solidFill>
                <a:latin typeface="Liter"/>
                <a:ea typeface="Liter"/>
              </a:rPr>
              <a:t>Competitive Edge</a:t>
            </a:r>
          </a:p>
        </p:txBody>
      </p:sp>
      <p:sp>
        <p:nvSpPr>
          <p:cNvPr id="12" name="dsl:toc-ch8"/>
          <p:cNvSpPr txBox="1"/>
          <p:nvPr/>
        </p:nvSpPr>
        <p:spPr>
          <a:xfrm>
            <a:off x="5905500" y="4095750"/>
            <a:ext cx="4953000" cy="476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2100" noProof="1">
                <a:solidFill>
                  <a:srgbClr val="A16207"/>
                </a:solidFill>
                <a:latin typeface="Oranienbaum"/>
                <a:ea typeface="Oranienbaum"/>
              </a:rPr>
              <a:t>08</a:t>
            </a:r>
            <a:r>
              <a:rPr sz="1350" noProof="1">
                <a:solidFill>
                  <a:srgbClr val="1C1917"/>
                </a:solidFill>
                <a:latin typeface="Liter"/>
                <a:ea typeface="Liter"/>
              </a:rPr>
              <a:t>   </a:t>
            </a:r>
            <a:r>
              <a:rPr sz="1350" noProof="1">
                <a:solidFill>
                  <a:srgbClr val="1C1917"/>
                </a:solidFill>
                <a:latin typeface="Liter"/>
                <a:ea typeface="Liter"/>
              </a:rPr>
              <a:t>Join Us</a:t>
            </a:r>
          </a:p>
        </p:txBody>
      </p:sp>
      <p:sp>
        <p:nvSpPr>
          <p:cNvPr id="13" name="dsl:toc-pagenum|s=$caption"/>
          <p:cNvSpPr txBox="1"/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Liter"/>
                <a:ea typeface="Liter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ch1-left-bg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ch1-num|s=$chapterNum"/>
          <p:cNvSpPr txBox="1"/>
          <p:nvPr/>
        </p:nvSpPr>
        <p:spPr>
          <a:xfrm>
            <a:off x="571500" y="2476500"/>
            <a:ext cx="4953000" cy="952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400" noProof="1">
                <a:solidFill>
                  <a:srgbClr val="FFFFFF"/>
                </a:solidFill>
                <a:latin typeface="Oranienbaum"/>
                <a:ea typeface="Oranienbaum"/>
              </a:rPr>
              <a:t>01</a:t>
            </a:r>
          </a:p>
        </p:txBody>
      </p:sp>
      <p:sp>
        <p:nvSpPr>
          <p:cNvPr id="4" name="dsl:ch1-title|s=$chapterTitle"/>
          <p:cNvSpPr txBox="1"/>
          <p:nvPr/>
        </p:nvSpPr>
        <p:spPr>
          <a:xfrm>
            <a:off x="6667500" y="2667000"/>
            <a:ext cx="4953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400" noProof="1">
                <a:solidFill>
                  <a:srgbClr val="1C1917"/>
                </a:solidFill>
                <a:latin typeface="Oranienbaum"/>
                <a:ea typeface="Oranienbaum"/>
              </a:rPr>
              <a:t>The Problem</a:t>
            </a:r>
          </a:p>
        </p:txBody>
      </p:sp>
      <p:sp>
        <p:nvSpPr>
          <p:cNvPr id="5" name="dsl:ch1-subtitle|s=$subtitle"/>
          <p:cNvSpPr txBox="1"/>
          <p:nvPr/>
        </p:nvSpPr>
        <p:spPr>
          <a:xfrm>
            <a:off x="6667500" y="3238500"/>
            <a:ext cx="4953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noProof="1">
                <a:solidFill>
                  <a:srgbClr val="64748B"/>
                </a:solidFill>
                <a:latin typeface="Liter"/>
                <a:ea typeface="Liter"/>
              </a:rPr>
              <a:t>Corporate procurement is fragmented, manual, and opaque</a:t>
            </a:r>
          </a:p>
        </p:txBody>
      </p:sp>
      <p:cxnSp>
        <p:nvCxnSpPr>
          <p:cNvPr id="6" name="dsl:ch1-line"/>
          <p:cNvCxnSpPr/>
          <p:nvPr/>
        </p:nvCxnSpPr>
        <p:spPr>
          <a:xfrm>
            <a:off x="6667500" y="3714750"/>
            <a:ext cx="571500" cy="0"/>
          </a:xfrm>
          <a:prstGeom prst="straightConnector1">
            <a:avLst/>
          </a:prstGeom>
          <a:ln w="25400">
            <a:solidFill>
              <a:srgbClr val="A16207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p-title|s=$title"/>
          <p:cNvSpPr txBox="1"/>
          <p:nvPr/>
        </p:nvSpPr>
        <p:spPr>
          <a:xfrm>
            <a:off x="571500" y="476250"/>
            <a:ext cx="104775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100" noProof="1">
                <a:solidFill>
                  <a:srgbClr val="1C1917"/>
                </a:solidFill>
                <a:latin typeface="Oranienbaum"/>
                <a:ea typeface="Oranienbaum"/>
              </a:rPr>
              <a:t>B2B Procurement Is Broken at Every Step</a:t>
            </a:r>
          </a:p>
        </p:txBody>
      </p:sp>
      <p:cxnSp>
        <p:nvCxnSpPr>
          <p:cNvPr id="3" name="dsl:p-line"/>
          <p:cNvCxnSpPr/>
          <p:nvPr/>
        </p:nvCxnSpPr>
        <p:spPr>
          <a:xfrm>
            <a:off x="571500" y="1000125"/>
            <a:ext cx="762000" cy="0"/>
          </a:xfrm>
          <a:prstGeom prst="straightConnector1">
            <a:avLst/>
          </a:prstGeom>
          <a:ln w="25400">
            <a:solidFill>
              <a:srgbClr val="A16207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sl:p-card1"/>
          <p:cNvSpPr/>
          <p:nvPr/>
        </p:nvSpPr>
        <p:spPr>
          <a:xfrm>
            <a:off x="571500" y="1333500"/>
            <a:ext cx="3429000" cy="20955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dsl:p-icon1|i=fas:comment-dots" descr="tmpsc1_mc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52400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6" name="dsl:p-card1-title"/>
          <p:cNvSpPr txBox="1"/>
          <p:nvPr/>
        </p:nvSpPr>
        <p:spPr>
          <a:xfrm>
            <a:off x="762000" y="1905000"/>
            <a:ext cx="3048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C1917"/>
                </a:solidFill>
                <a:latin typeface="Liter"/>
                <a:ea typeface="Liter"/>
              </a:rPr>
              <a:t>RFQs Are Lost in WhatsApp</a:t>
            </a:r>
          </a:p>
        </p:txBody>
      </p:sp>
      <p:sp>
        <p:nvSpPr>
          <p:cNvPr id="7" name="dsl:p-card1-body|s=$body"/>
          <p:cNvSpPr txBox="1"/>
          <p:nvPr/>
        </p:nvSpPr>
        <p:spPr>
          <a:xfrm>
            <a:off x="762000" y="2286000"/>
            <a:ext cx="30480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C1917"/>
                </a:solidFill>
                <a:latin typeface="Liter"/>
                <a:ea typeface="Liter"/>
              </a:rPr>
              <a:t>Buyers send quotes via email and chat. No tracking, no audit trail, no history. The same conversation happens 5 times.</a:t>
            </a:r>
          </a:p>
        </p:txBody>
      </p:sp>
      <p:sp>
        <p:nvSpPr>
          <p:cNvPr id="8" name="dsl:p-card2"/>
          <p:cNvSpPr/>
          <p:nvPr/>
        </p:nvSpPr>
        <p:spPr>
          <a:xfrm>
            <a:off x="4381500" y="1333500"/>
            <a:ext cx="3429000" cy="20955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dsl:p-icon2|i=fas:file-excel" descr="tmpsc1_mc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52400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0" name="dsl:p-card2-title"/>
          <p:cNvSpPr txBox="1"/>
          <p:nvPr/>
        </p:nvSpPr>
        <p:spPr>
          <a:xfrm>
            <a:off x="4572000" y="1905000"/>
            <a:ext cx="3048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C1917"/>
                </a:solidFill>
                <a:latin typeface="Liter"/>
                <a:ea typeface="Liter"/>
              </a:rPr>
              <a:t>Tracking Lives in Spreadsheets</a:t>
            </a:r>
          </a:p>
        </p:txBody>
      </p:sp>
      <p:sp>
        <p:nvSpPr>
          <p:cNvPr id="11" name="dsl:p-card2-body|s=$body"/>
          <p:cNvSpPr txBox="1"/>
          <p:nvPr/>
        </p:nvSpPr>
        <p:spPr>
          <a:xfrm>
            <a:off x="4572000" y="2286000"/>
            <a:ext cx="30480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C1917"/>
                </a:solidFill>
                <a:latin typeface="Liter"/>
                <a:ea typeface="Liter"/>
              </a:rPr>
              <a:t>Order status is a phone call away. Procurement teams maintain 5+ spreadsheets that never sync. Errors are inevitable.</a:t>
            </a:r>
          </a:p>
        </p:txBody>
      </p:sp>
      <p:sp>
        <p:nvSpPr>
          <p:cNvPr id="12" name="dsl:p-card3"/>
          <p:cNvSpPr/>
          <p:nvPr/>
        </p:nvSpPr>
        <p:spPr>
          <a:xfrm>
            <a:off x="8191500" y="1333500"/>
            <a:ext cx="3429000" cy="20955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sl:p-icon3|i=fas:money-bill-wave" descr="tmpsc1_mc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152400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dsl:p-card3-title"/>
          <p:cNvSpPr txBox="1"/>
          <p:nvPr/>
        </p:nvSpPr>
        <p:spPr>
          <a:xfrm>
            <a:off x="8382000" y="1905000"/>
            <a:ext cx="3048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C1917"/>
                </a:solidFill>
                <a:latin typeface="Liter"/>
                <a:ea typeface="Liter"/>
              </a:rPr>
              <a:t>Payments Are Reconciled Blindly</a:t>
            </a:r>
          </a:p>
        </p:txBody>
      </p:sp>
      <p:sp>
        <p:nvSpPr>
          <p:cNvPr id="15" name="dsl:p-card3-body|s=$body"/>
          <p:cNvSpPr txBox="1"/>
          <p:nvPr/>
        </p:nvSpPr>
        <p:spPr>
          <a:xfrm>
            <a:off x="8382000" y="2286000"/>
            <a:ext cx="30480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C1917"/>
                </a:solidFill>
                <a:latin typeface="Liter"/>
                <a:ea typeface="Liter"/>
              </a:rPr>
              <a:t>"Did you pay?" / "I didn't receive it." Bank transfers with no shared record. Disputes take weeks to resolve.</a:t>
            </a:r>
          </a:p>
        </p:txBody>
      </p:sp>
      <p:sp>
        <p:nvSpPr>
          <p:cNvPr id="16" name="dsl:p-card4"/>
          <p:cNvSpPr/>
          <p:nvPr/>
        </p:nvSpPr>
        <p:spPr>
          <a:xfrm>
            <a:off x="571500" y="3714750"/>
            <a:ext cx="3429000" cy="20955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dsl:p-icon4|i=fas:box-open" descr="tmpsc1_mc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90525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8" name="dsl:p-card4-title"/>
          <p:cNvSpPr txBox="1"/>
          <p:nvPr/>
        </p:nvSpPr>
        <p:spPr>
          <a:xfrm>
            <a:off x="762000" y="4286250"/>
            <a:ext cx="3048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C1917"/>
                </a:solidFill>
                <a:latin typeface="Liter"/>
                <a:ea typeface="Liter"/>
              </a:rPr>
              <a:t>Assets Disappear After Delivery</a:t>
            </a:r>
          </a:p>
        </p:txBody>
      </p:sp>
      <p:sp>
        <p:nvSpPr>
          <p:cNvPr id="19" name="dsl:p-card4-body|s=$body"/>
          <p:cNvSpPr txBox="1"/>
          <p:nvPr/>
        </p:nvSpPr>
        <p:spPr>
          <a:xfrm>
            <a:off x="762000" y="4667250"/>
            <a:ext cx="30480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C1917"/>
                </a:solidFill>
                <a:latin typeface="Liter"/>
                <a:ea typeface="Liter"/>
              </a:rPr>
              <a:t>Procured items are forgotten in warehouses. No one knows what the company owns, where it is, or what condition it's in.</a:t>
            </a:r>
          </a:p>
        </p:txBody>
      </p:sp>
      <p:sp>
        <p:nvSpPr>
          <p:cNvPr id="20" name="dsl:p-card5"/>
          <p:cNvSpPr/>
          <p:nvPr/>
        </p:nvSpPr>
        <p:spPr>
          <a:xfrm>
            <a:off x="4381500" y="3714750"/>
            <a:ext cx="3429000" cy="20955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dsl:p-icon5|i=fas:star-half-stroke" descr="tmpsc1_mc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90525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2" name="dsl:p-card5-title"/>
          <p:cNvSpPr txBox="1"/>
          <p:nvPr/>
        </p:nvSpPr>
        <p:spPr>
          <a:xfrm>
            <a:off x="4572000" y="4286250"/>
            <a:ext cx="3048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C1917"/>
                </a:solidFill>
                <a:latin typeface="Liter"/>
                <a:ea typeface="Liter"/>
              </a:rPr>
              <a:t>Trust Is Word-of-Mouth</a:t>
            </a:r>
          </a:p>
        </p:txBody>
      </p:sp>
      <p:sp>
        <p:nvSpPr>
          <p:cNvPr id="23" name="dsl:p-card5-body|s=$body"/>
          <p:cNvSpPr txBox="1"/>
          <p:nvPr/>
        </p:nvSpPr>
        <p:spPr>
          <a:xfrm>
            <a:off x="4572000" y="4667250"/>
            <a:ext cx="30480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C1917"/>
                </a:solidFill>
                <a:latin typeface="Liter"/>
                <a:ea typeface="Liter"/>
              </a:rPr>
              <a:t>Vendor reliability is based on who someone knows. No verified reviews, no transaction history, no accountability.</a:t>
            </a:r>
          </a:p>
        </p:txBody>
      </p:sp>
      <p:sp>
        <p:nvSpPr>
          <p:cNvPr id="24" name="dsl:p-big-num|s=$bigNumber"/>
          <p:cNvSpPr txBox="1"/>
          <p:nvPr/>
        </p:nvSpPr>
        <p:spPr>
          <a:xfrm>
            <a:off x="8191500" y="4000500"/>
            <a:ext cx="342900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3600" noProof="1">
                <a:solidFill>
                  <a:srgbClr val="A16207"/>
                </a:solidFill>
                <a:latin typeface="Liter"/>
                <a:ea typeface="Liter"/>
              </a:rPr>
              <a:t>30%+</a:t>
            </a:r>
          </a:p>
        </p:txBody>
      </p:sp>
      <p:sp>
        <p:nvSpPr>
          <p:cNvPr id="25" name="dsl:p-big-label"/>
          <p:cNvSpPr txBox="1"/>
          <p:nvPr/>
        </p:nvSpPr>
        <p:spPr>
          <a:xfrm>
            <a:off x="8191500" y="4762500"/>
            <a:ext cx="34290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1200" noProof="1">
                <a:solidFill>
                  <a:srgbClr val="64748B"/>
                </a:solidFill>
                <a:latin typeface="Liter"/>
                <a:ea typeface="Liter"/>
              </a:rPr>
              <a:t>of procurement time is spent on coordination, not purchasing</a:t>
            </a:r>
          </a:p>
        </p:txBody>
      </p:sp>
      <p:sp>
        <p:nvSpPr>
          <p:cNvPr id="26" name="dsl:p-pagenum|s=$caption"/>
          <p:cNvSpPr txBox="1"/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Liter"/>
                <a:ea typeface="Liter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ch2-left-bg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ch2-num|s=$chapterNum"/>
          <p:cNvSpPr txBox="1"/>
          <p:nvPr/>
        </p:nvSpPr>
        <p:spPr>
          <a:xfrm>
            <a:off x="571500" y="2476500"/>
            <a:ext cx="4953000" cy="952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400" noProof="1">
                <a:solidFill>
                  <a:srgbClr val="FFFFFF"/>
                </a:solidFill>
                <a:latin typeface="Oranienbaum"/>
                <a:ea typeface="Oranienbaum"/>
              </a:rPr>
              <a:t>02</a:t>
            </a:r>
          </a:p>
        </p:txBody>
      </p:sp>
      <p:sp>
        <p:nvSpPr>
          <p:cNvPr id="4" name="dsl:ch2-title|s=$chapterTitle"/>
          <p:cNvSpPr txBox="1"/>
          <p:nvPr/>
        </p:nvSpPr>
        <p:spPr>
          <a:xfrm>
            <a:off x="6667500" y="2667000"/>
            <a:ext cx="4953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400" noProof="1">
                <a:solidFill>
                  <a:srgbClr val="1C1917"/>
                </a:solidFill>
                <a:latin typeface="Oranienbaum"/>
                <a:ea typeface="Oranienbaum"/>
              </a:rPr>
              <a:t>The Solution</a:t>
            </a:r>
          </a:p>
        </p:txBody>
      </p:sp>
      <p:sp>
        <p:nvSpPr>
          <p:cNvPr id="5" name="dsl:ch2-subtitle|s=$subtitle"/>
          <p:cNvSpPr txBox="1"/>
          <p:nvPr/>
        </p:nvSpPr>
        <p:spPr>
          <a:xfrm>
            <a:off x="6667500" y="3238500"/>
            <a:ext cx="4953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noProof="1">
                <a:solidFill>
                  <a:srgbClr val="64748B"/>
                </a:solidFill>
                <a:latin typeface="Liter"/>
                <a:ea typeface="Liter"/>
              </a:rPr>
              <a:t>One platform from discovery to asset tracking</a:t>
            </a:r>
          </a:p>
        </p:txBody>
      </p:sp>
      <p:cxnSp>
        <p:nvCxnSpPr>
          <p:cNvPr id="6" name="dsl:ch2-line"/>
          <p:cNvCxnSpPr/>
          <p:nvPr/>
        </p:nvCxnSpPr>
        <p:spPr>
          <a:xfrm>
            <a:off x="6667500" y="3714750"/>
            <a:ext cx="571500" cy="0"/>
          </a:xfrm>
          <a:prstGeom prst="straightConnector1">
            <a:avLst/>
          </a:prstGeom>
          <a:ln w="25400">
            <a:solidFill>
              <a:srgbClr val="A16207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s-title|s=$title"/>
          <p:cNvSpPr txBox="1"/>
          <p:nvPr/>
        </p:nvSpPr>
        <p:spPr>
          <a:xfrm>
            <a:off x="571500" y="476250"/>
            <a:ext cx="104775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100" noProof="1">
                <a:solidFill>
                  <a:srgbClr val="1C1917"/>
                </a:solidFill>
                <a:latin typeface="Oranienbaum"/>
                <a:ea typeface="Oranienbaum"/>
              </a:rPr>
              <a:t>Corpass: Procurement + Asset Management in One Flow</a:t>
            </a:r>
          </a:p>
        </p:txBody>
      </p:sp>
      <p:cxnSp>
        <p:nvCxnSpPr>
          <p:cNvPr id="3" name="dsl:s-line"/>
          <p:cNvCxnSpPr/>
          <p:nvPr/>
        </p:nvCxnSpPr>
        <p:spPr>
          <a:xfrm>
            <a:off x="571500" y="1000125"/>
            <a:ext cx="762000" cy="0"/>
          </a:xfrm>
          <a:prstGeom prst="straightConnector1">
            <a:avLst/>
          </a:prstGeom>
          <a:ln w="25400">
            <a:solidFill>
              <a:srgbClr val="A16207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sl:s-step1-num"/>
          <p:cNvSpPr/>
          <p:nvPr/>
        </p:nvSpPr>
        <p:spPr>
          <a:xfrm>
            <a:off x="571500" y="1428750"/>
            <a:ext cx="381000" cy="381000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s-step1-num-text"/>
          <p:cNvSpPr txBox="1"/>
          <p:nvPr/>
        </p:nvSpPr>
        <p:spPr>
          <a:xfrm>
            <a:off x="571500" y="1428750"/>
            <a:ext cx="381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350" noProof="1">
                <a:solidFill>
                  <a:srgbClr val="FFFFFF"/>
                </a:solidFill>
                <a:latin typeface="Liter"/>
                <a:ea typeface="Liter"/>
              </a:rPr>
              <a:t>1</a:t>
            </a:r>
          </a:p>
        </p:txBody>
      </p:sp>
      <p:sp>
        <p:nvSpPr>
          <p:cNvPr id="6" name="dsl:s-step1-title"/>
          <p:cNvSpPr txBox="1"/>
          <p:nvPr/>
        </p:nvSpPr>
        <p:spPr>
          <a:xfrm>
            <a:off x="1095375" y="1428750"/>
            <a:ext cx="19050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C1917"/>
                </a:solidFill>
                <a:latin typeface="Liter"/>
                <a:ea typeface="Liter"/>
              </a:rPr>
              <a:t>Discover</a:t>
            </a:r>
          </a:p>
        </p:txBody>
      </p:sp>
      <p:sp>
        <p:nvSpPr>
          <p:cNvPr id="7" name="dsl:s-step1-body"/>
          <p:cNvSpPr txBox="1"/>
          <p:nvPr/>
        </p:nvSpPr>
        <p:spPr>
          <a:xfrm>
            <a:off x="1095375" y="1714500"/>
            <a:ext cx="190500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64748B"/>
                </a:solidFill>
                <a:latin typeface="Liter"/>
                <a:ea typeface="Liter"/>
              </a:rPr>
              <a:t>Browse verified sellers across 12+ categories with ratings and reviews</a:t>
            </a:r>
          </a:p>
        </p:txBody>
      </p:sp>
      <p:cxnSp>
        <p:nvCxnSpPr>
          <p:cNvPr id="8" name="dsl:s-conn1"/>
          <p:cNvCxnSpPr/>
          <p:nvPr/>
        </p:nvCxnSpPr>
        <p:spPr>
          <a:xfrm>
            <a:off x="3143250" y="1600200"/>
            <a:ext cx="571500" cy="0"/>
          </a:xfrm>
          <a:prstGeom prst="straightConnector1">
            <a:avLst/>
          </a:prstGeom>
          <a:ln w="12700">
            <a:solidFill>
              <a:srgbClr val="E7E5E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sl:s-step2-num"/>
          <p:cNvSpPr/>
          <p:nvPr/>
        </p:nvSpPr>
        <p:spPr>
          <a:xfrm>
            <a:off x="3810000" y="1428750"/>
            <a:ext cx="381000" cy="381000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s-step2-num-text"/>
          <p:cNvSpPr txBox="1"/>
          <p:nvPr/>
        </p:nvSpPr>
        <p:spPr>
          <a:xfrm>
            <a:off x="3810000" y="1428750"/>
            <a:ext cx="381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350" noProof="1">
                <a:solidFill>
                  <a:srgbClr val="FFFFFF"/>
                </a:solidFill>
                <a:latin typeface="Liter"/>
                <a:ea typeface="Liter"/>
              </a:rPr>
              <a:t>2</a:t>
            </a:r>
          </a:p>
        </p:txBody>
      </p:sp>
      <p:sp>
        <p:nvSpPr>
          <p:cNvPr id="11" name="dsl:s-step2-title"/>
          <p:cNvSpPr txBox="1"/>
          <p:nvPr/>
        </p:nvSpPr>
        <p:spPr>
          <a:xfrm>
            <a:off x="4333875" y="1428750"/>
            <a:ext cx="19050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C1917"/>
                </a:solidFill>
                <a:latin typeface="Liter"/>
                <a:ea typeface="Liter"/>
              </a:rPr>
              <a:t>Negotiate</a:t>
            </a:r>
          </a:p>
        </p:txBody>
      </p:sp>
      <p:sp>
        <p:nvSpPr>
          <p:cNvPr id="12" name="dsl:s-step2-body"/>
          <p:cNvSpPr txBox="1"/>
          <p:nvPr/>
        </p:nvSpPr>
        <p:spPr>
          <a:xfrm>
            <a:off x="4333875" y="1714500"/>
            <a:ext cx="190500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64748B"/>
                </a:solidFill>
                <a:latin typeface="Liter"/>
                <a:ea typeface="Liter"/>
              </a:rPr>
              <a:t>Send structured RFQs with threaded messaging and counter-offers</a:t>
            </a:r>
          </a:p>
        </p:txBody>
      </p:sp>
      <p:cxnSp>
        <p:nvCxnSpPr>
          <p:cNvPr id="13" name="dsl:s-conn2"/>
          <p:cNvCxnSpPr/>
          <p:nvPr/>
        </p:nvCxnSpPr>
        <p:spPr>
          <a:xfrm>
            <a:off x="6381750" y="1600200"/>
            <a:ext cx="571500" cy="0"/>
          </a:xfrm>
          <a:prstGeom prst="straightConnector1">
            <a:avLst/>
          </a:prstGeom>
          <a:ln w="12700">
            <a:solidFill>
              <a:srgbClr val="E7E5E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sl:s-step3-num"/>
          <p:cNvSpPr/>
          <p:nvPr/>
        </p:nvSpPr>
        <p:spPr>
          <a:xfrm>
            <a:off x="7048500" y="1428750"/>
            <a:ext cx="381000" cy="381000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s-step3-num-text"/>
          <p:cNvSpPr txBox="1"/>
          <p:nvPr/>
        </p:nvSpPr>
        <p:spPr>
          <a:xfrm>
            <a:off x="7048500" y="1428750"/>
            <a:ext cx="381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350" noProof="1">
                <a:solidFill>
                  <a:srgbClr val="FFFFFF"/>
                </a:solidFill>
                <a:latin typeface="Liter"/>
                <a:ea typeface="Liter"/>
              </a:rPr>
              <a:t>3</a:t>
            </a:r>
          </a:p>
        </p:txBody>
      </p:sp>
      <p:sp>
        <p:nvSpPr>
          <p:cNvPr id="16" name="dsl:s-step3-title"/>
          <p:cNvSpPr txBox="1"/>
          <p:nvPr/>
        </p:nvSpPr>
        <p:spPr>
          <a:xfrm>
            <a:off x="7572375" y="1428750"/>
            <a:ext cx="19050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C1917"/>
                </a:solidFill>
                <a:latin typeface="Liter"/>
                <a:ea typeface="Liter"/>
              </a:rPr>
              <a:t>Purchase</a:t>
            </a:r>
          </a:p>
        </p:txBody>
      </p:sp>
      <p:sp>
        <p:nvSpPr>
          <p:cNvPr id="17" name="dsl:s-step3-body"/>
          <p:cNvSpPr txBox="1"/>
          <p:nvPr/>
        </p:nvSpPr>
        <p:spPr>
          <a:xfrm>
            <a:off x="7572375" y="1714500"/>
            <a:ext cx="190500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64748B"/>
                </a:solidFill>
                <a:latin typeface="Liter"/>
                <a:ea typeface="Liter"/>
              </a:rPr>
              <a:t>Place orders with clear status tracking and payment records</a:t>
            </a:r>
          </a:p>
        </p:txBody>
      </p:sp>
      <p:cxnSp>
        <p:nvCxnSpPr>
          <p:cNvPr id="18" name="dsl:s-conn3"/>
          <p:cNvCxnSpPr/>
          <p:nvPr/>
        </p:nvCxnSpPr>
        <p:spPr>
          <a:xfrm>
            <a:off x="9620250" y="1600200"/>
            <a:ext cx="571500" cy="0"/>
          </a:xfrm>
          <a:prstGeom prst="straightConnector1">
            <a:avLst/>
          </a:prstGeom>
          <a:ln w="12700">
            <a:solidFill>
              <a:srgbClr val="E7E5E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sl:s-step4-num"/>
          <p:cNvSpPr/>
          <p:nvPr/>
        </p:nvSpPr>
        <p:spPr>
          <a:xfrm>
            <a:off x="10287000" y="1428750"/>
            <a:ext cx="381000" cy="381000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s-step4-num-text"/>
          <p:cNvSpPr txBox="1"/>
          <p:nvPr/>
        </p:nvSpPr>
        <p:spPr>
          <a:xfrm>
            <a:off x="10287000" y="1428750"/>
            <a:ext cx="381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350" noProof="1">
                <a:solidFill>
                  <a:srgbClr val="FFFFFF"/>
                </a:solidFill>
                <a:latin typeface="Liter"/>
                <a:ea typeface="Liter"/>
              </a:rPr>
              <a:t>4</a:t>
            </a:r>
          </a:p>
        </p:txBody>
      </p:sp>
      <p:sp>
        <p:nvSpPr>
          <p:cNvPr id="21" name="dsl:s-step4-title"/>
          <p:cNvSpPr txBox="1"/>
          <p:nvPr/>
        </p:nvSpPr>
        <p:spPr>
          <a:xfrm>
            <a:off x="10810875" y="1428750"/>
            <a:ext cx="1381125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C1917"/>
                </a:solidFill>
                <a:latin typeface="Liter"/>
                <a:ea typeface="Liter"/>
              </a:rPr>
              <a:t>Track</a:t>
            </a:r>
          </a:p>
        </p:txBody>
      </p:sp>
      <p:sp>
        <p:nvSpPr>
          <p:cNvPr id="22" name="dsl:s-step4-body"/>
          <p:cNvSpPr txBox="1"/>
          <p:nvPr/>
        </p:nvSpPr>
        <p:spPr>
          <a:xfrm>
            <a:off x="10810875" y="1714500"/>
            <a:ext cx="1381125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64748B"/>
                </a:solidFill>
                <a:latin typeface="Liter"/>
                <a:ea typeface="Liter"/>
              </a:rPr>
              <a:t>Every item auto-logs into your asset dashboard</a:t>
            </a:r>
          </a:p>
        </p:txBody>
      </p:sp>
      <p:sp>
        <p:nvSpPr>
          <p:cNvPr id="23" name="dsl:s-insight-bg"/>
          <p:cNvSpPr/>
          <p:nvPr/>
        </p:nvSpPr>
        <p:spPr>
          <a:xfrm>
            <a:off x="571500" y="2857500"/>
            <a:ext cx="11049000" cy="17145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sl:s-insight-label"/>
          <p:cNvSpPr txBox="1"/>
          <p:nvPr/>
        </p:nvSpPr>
        <p:spPr>
          <a:xfrm>
            <a:off x="857250" y="3048000"/>
            <a:ext cx="19050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00" noProof="1" spc="150">
                <a:solidFill>
                  <a:srgbClr val="A16207"/>
                </a:solidFill>
                <a:latin typeface="Liter"/>
                <a:ea typeface="Liter"/>
              </a:rPr>
              <a:t>CORE INSIGHT</a:t>
            </a:r>
          </a:p>
        </p:txBody>
      </p:sp>
      <p:sp>
        <p:nvSpPr>
          <p:cNvPr id="25" name="dsl:s-insight-text"/>
          <p:cNvSpPr txBox="1"/>
          <p:nvPr/>
        </p:nvSpPr>
        <p:spPr>
          <a:xfrm>
            <a:off x="857250" y="3429000"/>
            <a:ext cx="104775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650" noProof="1">
                <a:solidFill>
                  <a:srgbClr val="1C1917"/>
                </a:solidFill>
                <a:latin typeface="Oranienbaum"/>
                <a:ea typeface="Oranienbaum"/>
              </a:rPr>
              <a:t>Procurement doesn't end at delivery. It ends when you know what you own, where it is, and what condition it's in.</a:t>
            </a:r>
          </a:p>
        </p:txBody>
      </p:sp>
      <p:sp>
        <p:nvSpPr>
          <p:cNvPr id="26" name="dsl:s-detail1"/>
          <p:cNvSpPr txBox="1"/>
          <p:nvPr/>
        </p:nvSpPr>
        <p:spPr>
          <a:xfrm>
            <a:off x="571500" y="4953000"/>
            <a:ext cx="51435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b="1" sz="1200" noProof="1">
                <a:solidFill>
                  <a:srgbClr val="64748B"/>
                </a:solidFill>
                <a:latin typeface="Liter"/>
                <a:ea typeface="Liter"/>
              </a:rPr>
              <a:t>For Buyers:</a:t>
            </a:r>
            <a:r>
              <a:rPr sz="1200" noProof="1">
                <a:solidFill>
                  <a:srgbClr val="64748B"/>
                </a:solidFill>
                <a:latin typeface="Liter"/>
                <a:ea typeface="Liter"/>
              </a:rPr>
              <a:t> One dashboard for orders, payments, invoices, and assets. No more spreadsheets.</a:t>
            </a:r>
          </a:p>
        </p:txBody>
      </p:sp>
      <p:sp>
        <p:nvSpPr>
          <p:cNvPr id="27" name="dsl:s-detail2"/>
          <p:cNvSpPr txBox="1"/>
          <p:nvPr/>
        </p:nvSpPr>
        <p:spPr>
          <a:xfrm>
            <a:off x="6096000" y="4953000"/>
            <a:ext cx="55245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b="1" sz="1200" noProof="1">
                <a:solidFill>
                  <a:srgbClr val="64748B"/>
                </a:solidFill>
                <a:latin typeface="Liter"/>
                <a:ea typeface="Liter"/>
              </a:rPr>
              <a:t>For Sellers:</a:t>
            </a:r>
            <a:r>
              <a:rPr sz="1200" noProof="1">
                <a:solidFill>
                  <a:srgbClr val="64748B"/>
                </a:solidFill>
                <a:latin typeface="Liter"/>
                <a:ea typeface="Liter"/>
              </a:rPr>
              <a:t> A new channel for corporate buyers. Verified transactions build reputation. Commission-only pricing.</a:t>
            </a:r>
          </a:p>
        </p:txBody>
      </p:sp>
      <p:sp>
        <p:nvSpPr>
          <p:cNvPr id="28" name="dsl:s-pagenum|s=$caption"/>
          <p:cNvSpPr txBox="1"/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Liter"/>
                <a:ea typeface="Liter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ch3-left-bg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ch3-num|s=$chapterNum"/>
          <p:cNvSpPr txBox="1"/>
          <p:nvPr/>
        </p:nvSpPr>
        <p:spPr>
          <a:xfrm>
            <a:off x="571500" y="2476500"/>
            <a:ext cx="4953000" cy="952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400" noProof="1">
                <a:solidFill>
                  <a:srgbClr val="FFFFFF"/>
                </a:solidFill>
                <a:latin typeface="Oranienbaum"/>
                <a:ea typeface="Oranienbaum"/>
              </a:rPr>
              <a:t>03</a:t>
            </a:r>
          </a:p>
        </p:txBody>
      </p:sp>
      <p:sp>
        <p:nvSpPr>
          <p:cNvPr id="4" name="dsl:ch3-title|s=$chapterTitle"/>
          <p:cNvSpPr txBox="1"/>
          <p:nvPr/>
        </p:nvSpPr>
        <p:spPr>
          <a:xfrm>
            <a:off x="6667500" y="2667000"/>
            <a:ext cx="4953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400" noProof="1">
                <a:solidFill>
                  <a:srgbClr val="1C1917"/>
                </a:solidFill>
                <a:latin typeface="Oranienbaum"/>
                <a:ea typeface="Oranienbaum"/>
              </a:rPr>
              <a:t>For Buyers</a:t>
            </a:r>
          </a:p>
        </p:txBody>
      </p:sp>
      <p:sp>
        <p:nvSpPr>
          <p:cNvPr id="5" name="dsl:ch3-subtitle|s=$subtitle"/>
          <p:cNvSpPr txBox="1"/>
          <p:nvPr/>
        </p:nvSpPr>
        <p:spPr>
          <a:xfrm>
            <a:off x="6667500" y="3238500"/>
            <a:ext cx="4953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noProof="1">
                <a:solidFill>
                  <a:srgbClr val="64748B"/>
                </a:solidFill>
                <a:latin typeface="Liter"/>
                <a:ea typeface="Liter"/>
              </a:rPr>
              <a:t>Reduce procurement time. Increase visibility.</a:t>
            </a:r>
          </a:p>
        </p:txBody>
      </p:sp>
      <p:cxnSp>
        <p:nvCxnSpPr>
          <p:cNvPr id="6" name="dsl:ch3-line"/>
          <p:cNvCxnSpPr/>
          <p:nvPr/>
        </p:nvCxnSpPr>
        <p:spPr>
          <a:xfrm>
            <a:off x="6667500" y="3714750"/>
            <a:ext cx="571500" cy="0"/>
          </a:xfrm>
          <a:prstGeom prst="straightConnector1">
            <a:avLst/>
          </a:prstGeom>
          <a:ln w="25400">
            <a:solidFill>
              <a:srgbClr val="A16207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-title|s=$title"/>
          <p:cNvSpPr txBox="1"/>
          <p:nvPr/>
        </p:nvSpPr>
        <p:spPr>
          <a:xfrm>
            <a:off x="571500" y="476250"/>
            <a:ext cx="104775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100" noProof="1">
                <a:solidFill>
                  <a:srgbClr val="1C1917"/>
                </a:solidFill>
                <a:latin typeface="Oranienbaum"/>
                <a:ea typeface="Oranienbaum"/>
              </a:rPr>
              <a:t>Buyers: One Place for Everything Your Business Needs</a:t>
            </a:r>
          </a:p>
        </p:txBody>
      </p:sp>
      <p:cxnSp>
        <p:nvCxnSpPr>
          <p:cNvPr id="3" name="dsl:b-line"/>
          <p:cNvCxnSpPr/>
          <p:nvPr/>
        </p:nvCxnSpPr>
        <p:spPr>
          <a:xfrm>
            <a:off x="571500" y="1000125"/>
            <a:ext cx="762000" cy="0"/>
          </a:xfrm>
          <a:prstGeom prst="straightConnector1">
            <a:avLst/>
          </a:prstGeom>
          <a:ln w="25400">
            <a:solidFill>
              <a:srgbClr val="A16207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sl:b-card1-bg"/>
          <p:cNvSpPr/>
          <p:nvPr/>
        </p:nvSpPr>
        <p:spPr>
          <a:xfrm>
            <a:off x="571500" y="1333500"/>
            <a:ext cx="3429000" cy="22860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dsl:b-icon1|i=fas:store" descr="tmpr6w98p8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524000"/>
            <a:ext cx="228600" cy="2286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6" name="dsl:b-card1-title"/>
          <p:cNvSpPr txBox="1"/>
          <p:nvPr/>
        </p:nvSpPr>
        <p:spPr>
          <a:xfrm>
            <a:off x="762000" y="1905000"/>
            <a:ext cx="3048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C1917"/>
                </a:solidFill>
                <a:latin typeface="Liter"/>
                <a:ea typeface="Liter"/>
              </a:rPr>
              <a:t>Verified Marketplace</a:t>
            </a:r>
          </a:p>
        </p:txBody>
      </p:sp>
      <p:sp>
        <p:nvSpPr>
          <p:cNvPr id="7" name="dsl:b-card1-body"/>
          <p:cNvSpPr txBox="1"/>
          <p:nvPr/>
        </p:nvSpPr>
        <p:spPr>
          <a:xfrm>
            <a:off x="762000" y="2247900"/>
            <a:ext cx="30480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64748B"/>
                </a:solidFill>
                <a:latin typeface="Liter"/>
                <a:ea typeface="Liter"/>
              </a:rPr>
              <a:t>12+ categories. View seller ratings, GSTIN, delivery range, and company profile before you inquire.</a:t>
            </a:r>
          </a:p>
        </p:txBody>
      </p:sp>
      <p:sp>
        <p:nvSpPr>
          <p:cNvPr id="8" name="dsl:b-card2-bg"/>
          <p:cNvSpPr/>
          <p:nvPr/>
        </p:nvSpPr>
        <p:spPr>
          <a:xfrm>
            <a:off x="4381500" y="1333500"/>
            <a:ext cx="3429000" cy="22860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dsl:b-icon2|i=fas:comments" descr="tmpr6w98p8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524000"/>
            <a:ext cx="228600" cy="2286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0" name="dsl:b-card2-title"/>
          <p:cNvSpPr txBox="1"/>
          <p:nvPr/>
        </p:nvSpPr>
        <p:spPr>
          <a:xfrm>
            <a:off x="4572000" y="1905000"/>
            <a:ext cx="3048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C1917"/>
                </a:solidFill>
                <a:latin typeface="Liter"/>
                <a:ea typeface="Liter"/>
              </a:rPr>
              <a:t>Structured RFQs</a:t>
            </a:r>
          </a:p>
        </p:txBody>
      </p:sp>
      <p:sp>
        <p:nvSpPr>
          <p:cNvPr id="11" name="dsl:b-card2-body"/>
          <p:cNvSpPr txBox="1"/>
          <p:nvPr/>
        </p:nvSpPr>
        <p:spPr>
          <a:xfrm>
            <a:off x="4572000" y="2247900"/>
            <a:ext cx="30480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64748B"/>
                </a:solidFill>
                <a:latin typeface="Liter"/>
                <a:ea typeface="Liter"/>
              </a:rPr>
              <a:t>Quote, feasibility, or availability requests. Threaded messaging with counter-offers until both sides agree.</a:t>
            </a:r>
          </a:p>
        </p:txBody>
      </p:sp>
      <p:sp>
        <p:nvSpPr>
          <p:cNvPr id="12" name="dsl:b-card3-bg"/>
          <p:cNvSpPr/>
          <p:nvPr/>
        </p:nvSpPr>
        <p:spPr>
          <a:xfrm>
            <a:off x="8191500" y="1333500"/>
            <a:ext cx="3429000" cy="22860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sl:b-icon3|i=fas:truck-fast" descr="tmpr6w98p8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1524000"/>
            <a:ext cx="228600" cy="2286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dsl:b-card3-title"/>
          <p:cNvSpPr txBox="1"/>
          <p:nvPr/>
        </p:nvSpPr>
        <p:spPr>
          <a:xfrm>
            <a:off x="8382000" y="1905000"/>
            <a:ext cx="3048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C1917"/>
                </a:solidFill>
                <a:latin typeface="Liter"/>
                <a:ea typeface="Liter"/>
              </a:rPr>
              <a:t>Order Tracking</a:t>
            </a:r>
          </a:p>
        </p:txBody>
      </p:sp>
      <p:sp>
        <p:nvSpPr>
          <p:cNvPr id="15" name="dsl:b-card3-body"/>
          <p:cNvSpPr txBox="1"/>
          <p:nvPr/>
        </p:nvSpPr>
        <p:spPr>
          <a:xfrm>
            <a:off x="8382000" y="2247900"/>
            <a:ext cx="30480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64748B"/>
                </a:solidFill>
                <a:latin typeface="Liter"/>
                <a:ea typeface="Liter"/>
              </a:rPr>
              <a:t>PLACED → CONFIRMED → SHIPPED → DELIVERED. Real-time status. No more phone calls to check where your order is.</a:t>
            </a:r>
          </a:p>
        </p:txBody>
      </p:sp>
      <p:sp>
        <p:nvSpPr>
          <p:cNvPr id="16" name="dsl:b-card4-bg"/>
          <p:cNvSpPr/>
          <p:nvPr/>
        </p:nvSpPr>
        <p:spPr>
          <a:xfrm>
            <a:off x="571500" y="3905250"/>
            <a:ext cx="3429000" cy="22860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dsl:b-icon4|i=fas:receipt" descr="tmpr6w98p8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095750"/>
            <a:ext cx="228600" cy="2286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8" name="dsl:b-card4-title"/>
          <p:cNvSpPr txBox="1"/>
          <p:nvPr/>
        </p:nvSpPr>
        <p:spPr>
          <a:xfrm>
            <a:off x="762000" y="4476750"/>
            <a:ext cx="3048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C1917"/>
                </a:solidFill>
                <a:latin typeface="Liter"/>
                <a:ea typeface="Liter"/>
              </a:rPr>
              <a:t>Payment Trust</a:t>
            </a:r>
          </a:p>
        </p:txBody>
      </p:sp>
      <p:sp>
        <p:nvSpPr>
          <p:cNvPr id="19" name="dsl:b-card4-body"/>
          <p:cNvSpPr txBox="1"/>
          <p:nvPr/>
        </p:nvSpPr>
        <p:spPr>
          <a:xfrm>
            <a:off x="762000" y="4819650"/>
            <a:ext cx="30480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64748B"/>
                </a:solidFill>
                <a:latin typeface="Liter"/>
                <a:ea typeface="Liter"/>
              </a:rPr>
              <a:t>Record payments with UTR. Seller acknowledges or disputes. Shared ledger means zero ambiguity on who paid what.</a:t>
            </a:r>
          </a:p>
        </p:txBody>
      </p:sp>
      <p:sp>
        <p:nvSpPr>
          <p:cNvPr id="20" name="dsl:b-card5-bg"/>
          <p:cNvSpPr/>
          <p:nvPr/>
        </p:nvSpPr>
        <p:spPr>
          <a:xfrm>
            <a:off x="4381500" y="3905250"/>
            <a:ext cx="3429000" cy="22860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dsl:b-icon5|i=fas:boxes-stacked" descr="tmpr6w98p8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095750"/>
            <a:ext cx="228600" cy="2286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2" name="dsl:b-card5-title"/>
          <p:cNvSpPr txBox="1"/>
          <p:nvPr/>
        </p:nvSpPr>
        <p:spPr>
          <a:xfrm>
            <a:off x="4572000" y="4476750"/>
            <a:ext cx="3048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C1917"/>
                </a:solidFill>
                <a:latin typeface="Liter"/>
                <a:ea typeface="Liter"/>
              </a:rPr>
              <a:t>Asset Dashboard</a:t>
            </a:r>
          </a:p>
        </p:txBody>
      </p:sp>
      <p:sp>
        <p:nvSpPr>
          <p:cNvPr id="23" name="dsl:b-card5-body"/>
          <p:cNvSpPr txBox="1"/>
          <p:nvPr/>
        </p:nvSpPr>
        <p:spPr>
          <a:xfrm>
            <a:off x="4572000" y="4819650"/>
            <a:ext cx="30480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64748B"/>
                </a:solidFill>
                <a:latin typeface="Liter"/>
                <a:ea typeface="Liter"/>
              </a:rPr>
              <a:t>Every delivered item auto-logs. Track condition, location, and lifecycle. Never lose track of what you own.</a:t>
            </a:r>
          </a:p>
        </p:txBody>
      </p:sp>
      <p:sp>
        <p:nvSpPr>
          <p:cNvPr id="24" name="dsl:b-card6-bg"/>
          <p:cNvSpPr/>
          <p:nvPr/>
        </p:nvSpPr>
        <p:spPr>
          <a:xfrm>
            <a:off x="8191500" y="3905250"/>
            <a:ext cx="3429000" cy="2286000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sl:b-card6-title"/>
          <p:cNvSpPr txBox="1"/>
          <p:nvPr/>
        </p:nvSpPr>
        <p:spPr>
          <a:xfrm>
            <a:off x="8382000" y="4476750"/>
            <a:ext cx="3048000" cy="666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650" noProof="1">
                <a:solidFill>
                  <a:srgbClr val="FFFFFF"/>
                </a:solidFill>
                <a:latin typeface="Oranienbaum"/>
                <a:ea typeface="Oranienbaum"/>
              </a:rPr>
              <a:t>Ready to streamline your procurement?</a:t>
            </a:r>
          </a:p>
        </p:txBody>
      </p:sp>
      <p:sp>
        <p:nvSpPr>
          <p:cNvPr id="26" name="dsl:b-card6-cta"/>
          <p:cNvSpPr txBox="1"/>
          <p:nvPr/>
        </p:nvSpPr>
        <p:spPr>
          <a:xfrm>
            <a:off x="8382000" y="523875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FFFFFF"/>
                </a:solidFill>
                <a:latin typeface="Liter"/>
                <a:ea typeface="Liter"/>
              </a:rPr>
              <a:t>Request a demo →</a:t>
            </a:r>
          </a:p>
        </p:txBody>
      </p:sp>
      <p:sp>
        <p:nvSpPr>
          <p:cNvPr id="27" name="dsl:b-pagenum|s=$caption"/>
          <p:cNvSpPr txBox="1"/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Liter"/>
                <a:ea typeface="Liter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ch4-left-bg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ch4-num|s=$chapterNum"/>
          <p:cNvSpPr txBox="1"/>
          <p:nvPr/>
        </p:nvSpPr>
        <p:spPr>
          <a:xfrm>
            <a:off x="571500" y="2476500"/>
            <a:ext cx="4953000" cy="952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400" noProof="1">
                <a:solidFill>
                  <a:srgbClr val="FFFFFF"/>
                </a:solidFill>
                <a:latin typeface="Oranienbaum"/>
                <a:ea typeface="Oranienbaum"/>
              </a:rPr>
              <a:t>04</a:t>
            </a:r>
          </a:p>
        </p:txBody>
      </p:sp>
      <p:sp>
        <p:nvSpPr>
          <p:cNvPr id="4" name="dsl:ch4-title|s=$chapterTitle"/>
          <p:cNvSpPr txBox="1"/>
          <p:nvPr/>
        </p:nvSpPr>
        <p:spPr>
          <a:xfrm>
            <a:off x="6667500" y="2667000"/>
            <a:ext cx="4953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400" noProof="1">
                <a:solidFill>
                  <a:srgbClr val="1C1917"/>
                </a:solidFill>
                <a:latin typeface="Oranienbaum"/>
                <a:ea typeface="Oranienbaum"/>
              </a:rPr>
              <a:t>For Sellers</a:t>
            </a:r>
          </a:p>
        </p:txBody>
      </p:sp>
      <p:sp>
        <p:nvSpPr>
          <p:cNvPr id="5" name="dsl:ch4-subtitle|s=$subtitle"/>
          <p:cNvSpPr txBox="1"/>
          <p:nvPr/>
        </p:nvSpPr>
        <p:spPr>
          <a:xfrm>
            <a:off x="6667500" y="3238500"/>
            <a:ext cx="4953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noProof="1">
                <a:solidFill>
                  <a:srgbClr val="64748B"/>
                </a:solidFill>
                <a:latin typeface="Liter"/>
                <a:ea typeface="Liter"/>
              </a:rPr>
              <a:t>Get corporate orders without cold calling</a:t>
            </a:r>
          </a:p>
        </p:txBody>
      </p:sp>
      <p:cxnSp>
        <p:nvCxnSpPr>
          <p:cNvPr id="6" name="dsl:ch4-line"/>
          <p:cNvCxnSpPr/>
          <p:nvPr/>
        </p:nvCxnSpPr>
        <p:spPr>
          <a:xfrm>
            <a:off x="6667500" y="3714750"/>
            <a:ext cx="571500" cy="0"/>
          </a:xfrm>
          <a:prstGeom prst="straightConnector1">
            <a:avLst/>
          </a:prstGeom>
          <a:ln w="25400">
            <a:solidFill>
              <a:srgbClr val="A16207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se-title|s=$title"/>
          <p:cNvSpPr txBox="1"/>
          <p:nvPr/>
        </p:nvSpPr>
        <p:spPr>
          <a:xfrm>
            <a:off x="571500" y="476250"/>
            <a:ext cx="104775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100" noProof="1">
                <a:solidFill>
                  <a:srgbClr val="1C1917"/>
                </a:solidFill>
                <a:latin typeface="Oranienbaum"/>
                <a:ea typeface="Oranienbaum"/>
              </a:rPr>
              <a:t>Sellers: A New Channel for Corporate Revenue</a:t>
            </a:r>
          </a:p>
        </p:txBody>
      </p:sp>
      <p:cxnSp>
        <p:nvCxnSpPr>
          <p:cNvPr id="3" name="dsl:se-line"/>
          <p:cNvCxnSpPr/>
          <p:nvPr/>
        </p:nvCxnSpPr>
        <p:spPr>
          <a:xfrm>
            <a:off x="571500" y="1000125"/>
            <a:ext cx="762000" cy="0"/>
          </a:xfrm>
          <a:prstGeom prst="straightConnector1">
            <a:avLst/>
          </a:prstGeom>
          <a:ln w="25400">
            <a:solidFill>
              <a:srgbClr val="A16207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sl:se-card1-bg"/>
          <p:cNvSpPr/>
          <p:nvPr/>
        </p:nvSpPr>
        <p:spPr>
          <a:xfrm>
            <a:off x="571500" y="1333500"/>
            <a:ext cx="3429000" cy="22860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dsl:se-icon1|i=fas:upload" descr="tmpr6w98p8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524000"/>
            <a:ext cx="228600" cy="2286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6" name="dsl:se-card1-title"/>
          <p:cNvSpPr txBox="1"/>
          <p:nvPr/>
        </p:nvSpPr>
        <p:spPr>
          <a:xfrm>
            <a:off x="762000" y="1905000"/>
            <a:ext cx="3048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C1917"/>
                </a:solidFill>
                <a:latin typeface="Liter"/>
                <a:ea typeface="Liter"/>
              </a:rPr>
              <a:t>List Once, Sell Forever</a:t>
            </a:r>
          </a:p>
        </p:txBody>
      </p:sp>
      <p:sp>
        <p:nvSpPr>
          <p:cNvPr id="7" name="dsl:se-card1-body"/>
          <p:cNvSpPr txBox="1"/>
          <p:nvPr/>
        </p:nvSpPr>
        <p:spPr>
          <a:xfrm>
            <a:off x="762000" y="2247900"/>
            <a:ext cx="30480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64748B"/>
                </a:solidFill>
                <a:latin typeface="Liter"/>
                <a:ea typeface="Liter"/>
              </a:rPr>
              <a:t>Upload your catalog with flexible pricing: Fixed Price or Contact for Quote. Images, descriptions, units — all in one place.</a:t>
            </a:r>
          </a:p>
        </p:txBody>
      </p:sp>
      <p:sp>
        <p:nvSpPr>
          <p:cNvPr id="8" name="dsl:se-card2-bg"/>
          <p:cNvSpPr/>
          <p:nvPr/>
        </p:nvSpPr>
        <p:spPr>
          <a:xfrm>
            <a:off x="4381500" y="1333500"/>
            <a:ext cx="3429000" cy="22860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dsl:se-icon2|i=fas:warehouse" descr="tmpr6w98p8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524000"/>
            <a:ext cx="228600" cy="2286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0" name="dsl:se-card2-title"/>
          <p:cNvSpPr txBox="1"/>
          <p:nvPr/>
        </p:nvSpPr>
        <p:spPr>
          <a:xfrm>
            <a:off x="4572000" y="1905000"/>
            <a:ext cx="3048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C1917"/>
                </a:solidFill>
                <a:latin typeface="Liter"/>
                <a:ea typeface="Liter"/>
              </a:rPr>
              <a:t>Live Stock Management</a:t>
            </a:r>
          </a:p>
        </p:txBody>
      </p:sp>
      <p:sp>
        <p:nvSpPr>
          <p:cNvPr id="11" name="dsl:se-card2-body"/>
          <p:cNvSpPr txBox="1"/>
          <p:nvPr/>
        </p:nvSpPr>
        <p:spPr>
          <a:xfrm>
            <a:off x="4572000" y="2247900"/>
            <a:ext cx="30480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64748B"/>
                </a:solidFill>
                <a:latin typeface="Liter"/>
                <a:ea typeface="Liter"/>
              </a:rPr>
              <a:t>Stock auto-deducts on ship. Low-stock alerts keep you honest. Buyers see real availability, not placeholder numbers.</a:t>
            </a:r>
          </a:p>
        </p:txBody>
      </p:sp>
      <p:sp>
        <p:nvSpPr>
          <p:cNvPr id="12" name="dsl:se-card3-bg"/>
          <p:cNvSpPr/>
          <p:nvPr/>
        </p:nvSpPr>
        <p:spPr>
          <a:xfrm>
            <a:off x="8191500" y="1333500"/>
            <a:ext cx="3429000" cy="22860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sl:se-icon3|i=fas:file-invoice" descr="tmpr6w98p8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1524000"/>
            <a:ext cx="228600" cy="2286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dsl:se-card3-title"/>
          <p:cNvSpPr txBox="1"/>
          <p:nvPr/>
        </p:nvSpPr>
        <p:spPr>
          <a:xfrm>
            <a:off x="8382000" y="1905000"/>
            <a:ext cx="3048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C1917"/>
                </a:solidFill>
                <a:latin typeface="Liter"/>
                <a:ea typeface="Liter"/>
              </a:rPr>
              <a:t>Invoicing Built In</a:t>
            </a:r>
          </a:p>
        </p:txBody>
      </p:sp>
      <p:sp>
        <p:nvSpPr>
          <p:cNvPr id="15" name="dsl:se-card3-body"/>
          <p:cNvSpPr txBox="1"/>
          <p:nvPr/>
        </p:nvSpPr>
        <p:spPr>
          <a:xfrm>
            <a:off x="8382000" y="2247900"/>
            <a:ext cx="30480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64748B"/>
                </a:solidFill>
                <a:latin typeface="Liter"/>
                <a:ea typeface="Liter"/>
              </a:rPr>
              <a:t>Auto-generated invoice on delivery. Plus manual invoices for off-platform agreements. Both parties acknowledge or dispute.</a:t>
            </a:r>
          </a:p>
        </p:txBody>
      </p:sp>
      <p:sp>
        <p:nvSpPr>
          <p:cNvPr id="16" name="dsl:se-card4-bg"/>
          <p:cNvSpPr/>
          <p:nvPr/>
        </p:nvSpPr>
        <p:spPr>
          <a:xfrm>
            <a:off x="571500" y="3905250"/>
            <a:ext cx="3429000" cy="22860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dsl:se-icon4|i=fas:star" descr="tmp42z1q62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095750"/>
            <a:ext cx="228600" cy="2286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8" name="dsl:se-card4-title"/>
          <p:cNvSpPr txBox="1"/>
          <p:nvPr/>
        </p:nvSpPr>
        <p:spPr>
          <a:xfrm>
            <a:off x="762000" y="4476750"/>
            <a:ext cx="3048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C1917"/>
                </a:solidFill>
                <a:latin typeface="Liter"/>
                <a:ea typeface="Liter"/>
              </a:rPr>
              <a:t>Verified Reviews</a:t>
            </a:r>
          </a:p>
        </p:txBody>
      </p:sp>
      <p:sp>
        <p:nvSpPr>
          <p:cNvPr id="19" name="dsl:se-card4-body"/>
          <p:cNvSpPr txBox="1"/>
          <p:nvPr/>
        </p:nvSpPr>
        <p:spPr>
          <a:xfrm>
            <a:off x="762000" y="4819650"/>
            <a:ext cx="30480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64748B"/>
                </a:solidFill>
                <a:latin typeface="Liter"/>
                <a:ea typeface="Liter"/>
              </a:rPr>
              <a:t>Every completed order earns a review. Build reputation with real transactions, not fake testimonials. Ratings drive discovery.</a:t>
            </a:r>
          </a:p>
        </p:txBody>
      </p:sp>
      <p:sp>
        <p:nvSpPr>
          <p:cNvPr id="20" name="dsl:se-card5-bg"/>
          <p:cNvSpPr/>
          <p:nvPr/>
        </p:nvSpPr>
        <p:spPr>
          <a:xfrm>
            <a:off x="4381500" y="3905250"/>
            <a:ext cx="3429000" cy="22860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dsl:se-icon5|i=fas:handshake" descr="tmpr6w98p8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095750"/>
            <a:ext cx="228600" cy="2286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2" name="dsl:se-card5-title"/>
          <p:cNvSpPr txBox="1"/>
          <p:nvPr/>
        </p:nvSpPr>
        <p:spPr>
          <a:xfrm>
            <a:off x="4572000" y="4476750"/>
            <a:ext cx="3048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C1917"/>
                </a:solidFill>
                <a:latin typeface="Liter"/>
                <a:ea typeface="Liter"/>
              </a:rPr>
              <a:t>You Control Fulfillment</a:t>
            </a:r>
          </a:p>
        </p:txBody>
      </p:sp>
      <p:sp>
        <p:nvSpPr>
          <p:cNvPr id="23" name="dsl:se-card5-body"/>
          <p:cNvSpPr txBox="1"/>
          <p:nvPr/>
        </p:nvSpPr>
        <p:spPr>
          <a:xfrm>
            <a:off x="4572000" y="4819650"/>
            <a:ext cx="30480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64748B"/>
                </a:solidFill>
                <a:latin typeface="Liter"/>
                <a:ea typeface="Liter"/>
              </a:rPr>
              <a:t>Confirm, ship, deliver — you manage the pipeline. Advance payment tracking protects you from unpaid shipments.</a:t>
            </a:r>
          </a:p>
        </p:txBody>
      </p:sp>
      <p:sp>
        <p:nvSpPr>
          <p:cNvPr id="24" name="dsl:se-card6-bg"/>
          <p:cNvSpPr/>
          <p:nvPr/>
        </p:nvSpPr>
        <p:spPr>
          <a:xfrm>
            <a:off x="8191500" y="3905250"/>
            <a:ext cx="3429000" cy="2286000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sl:se-card6-title"/>
          <p:cNvSpPr txBox="1"/>
          <p:nvPr/>
        </p:nvSpPr>
        <p:spPr>
          <a:xfrm>
            <a:off x="8382000" y="4476750"/>
            <a:ext cx="3048000" cy="666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650" noProof="1">
                <a:solidFill>
                  <a:srgbClr val="FFFFFF"/>
                </a:solidFill>
                <a:latin typeface="Oranienbaum"/>
                <a:ea typeface="Oranienbaum"/>
              </a:rPr>
              <a:t>Zero upfront cost. Pay only when you earn.</a:t>
            </a:r>
          </a:p>
        </p:txBody>
      </p:sp>
      <p:sp>
        <p:nvSpPr>
          <p:cNvPr id="26" name="dsl:se-card6-cta"/>
          <p:cNvSpPr txBox="1"/>
          <p:nvPr/>
        </p:nvSpPr>
        <p:spPr>
          <a:xfrm>
            <a:off x="8382000" y="523875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FFFFFF"/>
                </a:solidFill>
                <a:latin typeface="Liter"/>
                <a:ea typeface="Liter"/>
              </a:rPr>
              <a:t>List your products →</a:t>
            </a:r>
          </a:p>
        </p:txBody>
      </p:sp>
      <p:sp>
        <p:nvSpPr>
          <p:cNvPr id="27" name="dsl:se-pagenum|s=$caption"/>
          <p:cNvSpPr txBox="1"/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Liter"/>
                <a:ea typeface="Li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ch5-left-bg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ch5-num|s=$chapterNum"/>
          <p:cNvSpPr txBox="1"/>
          <p:nvPr/>
        </p:nvSpPr>
        <p:spPr>
          <a:xfrm>
            <a:off x="571500" y="2476500"/>
            <a:ext cx="4953000" cy="952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400" noProof="1">
                <a:solidFill>
                  <a:srgbClr val="FFFFFF"/>
                </a:solidFill>
                <a:latin typeface="Oranienbaum"/>
                <a:ea typeface="Oranienbaum"/>
              </a:rPr>
              <a:t>05</a:t>
            </a:r>
          </a:p>
        </p:txBody>
      </p:sp>
      <p:sp>
        <p:nvSpPr>
          <p:cNvPr id="4" name="dsl:ch5-title|s=$chapterTitle"/>
          <p:cNvSpPr txBox="1"/>
          <p:nvPr/>
        </p:nvSpPr>
        <p:spPr>
          <a:xfrm>
            <a:off x="6667500" y="2667000"/>
            <a:ext cx="4953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400" noProof="1">
                <a:solidFill>
                  <a:srgbClr val="1C1917"/>
                </a:solidFill>
                <a:latin typeface="Oranienbaum"/>
                <a:ea typeface="Oranienbaum"/>
              </a:rPr>
              <a:t>How It Works</a:t>
            </a:r>
          </a:p>
        </p:txBody>
      </p:sp>
      <p:sp>
        <p:nvSpPr>
          <p:cNvPr id="5" name="dsl:ch5-subtitle|s=$subtitle"/>
          <p:cNvSpPr txBox="1"/>
          <p:nvPr/>
        </p:nvSpPr>
        <p:spPr>
          <a:xfrm>
            <a:off x="6667500" y="3238500"/>
            <a:ext cx="4953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noProof="1">
                <a:solidFill>
                  <a:srgbClr val="64748B"/>
                </a:solidFill>
                <a:latin typeface="Liter"/>
                <a:ea typeface="Liter"/>
              </a:rPr>
              <a:t>The order lifecycle from inquiry to asset</a:t>
            </a:r>
          </a:p>
        </p:txBody>
      </p:sp>
      <p:cxnSp>
        <p:nvCxnSpPr>
          <p:cNvPr id="6" name="dsl:ch5-line"/>
          <p:cNvCxnSpPr/>
          <p:nvPr/>
        </p:nvCxnSpPr>
        <p:spPr>
          <a:xfrm>
            <a:off x="6667500" y="3714750"/>
            <a:ext cx="571500" cy="0"/>
          </a:xfrm>
          <a:prstGeom prst="straightConnector1">
            <a:avLst/>
          </a:prstGeom>
          <a:ln w="25400">
            <a:solidFill>
              <a:srgbClr val="A16207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w-title|s=$title"/>
          <p:cNvSpPr txBox="1"/>
          <p:nvPr/>
        </p:nvSpPr>
        <p:spPr>
          <a:xfrm>
            <a:off x="571500" y="476250"/>
            <a:ext cx="104775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100" noProof="1">
                <a:solidFill>
                  <a:srgbClr val="1C1917"/>
                </a:solidFill>
                <a:latin typeface="Oranienbaum"/>
                <a:ea typeface="Oranienbaum"/>
              </a:rPr>
              <a:t>The Order Lifecycle: Transparent, Negotiable, Accountable</a:t>
            </a:r>
          </a:p>
        </p:txBody>
      </p:sp>
      <p:cxnSp>
        <p:nvCxnSpPr>
          <p:cNvPr id="3" name="dsl:w-line"/>
          <p:cNvCxnSpPr/>
          <p:nvPr/>
        </p:nvCxnSpPr>
        <p:spPr>
          <a:xfrm>
            <a:off x="571500" y="1000125"/>
            <a:ext cx="762000" cy="0"/>
          </a:xfrm>
          <a:prstGeom prst="straightConnector1">
            <a:avLst/>
          </a:prstGeom>
          <a:ln w="25400">
            <a:solidFill>
              <a:srgbClr val="A16207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sl:w-step1-bg"/>
          <p:cNvSpPr/>
          <p:nvPr/>
        </p:nvSpPr>
        <p:spPr>
          <a:xfrm>
            <a:off x="571500" y="1333500"/>
            <a:ext cx="1428750" cy="17145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w-step1-num"/>
          <p:cNvSpPr txBox="1"/>
          <p:nvPr/>
        </p:nvSpPr>
        <p:spPr>
          <a:xfrm>
            <a:off x="571500" y="1428750"/>
            <a:ext cx="142875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2100" noProof="1">
                <a:solidFill>
                  <a:srgbClr val="A16207"/>
                </a:solidFill>
                <a:latin typeface="Oranienbaum"/>
                <a:ea typeface="Oranienbaum"/>
              </a:rPr>
              <a:t>01</a:t>
            </a:r>
          </a:p>
        </p:txBody>
      </p:sp>
      <p:sp>
        <p:nvSpPr>
          <p:cNvPr id="6" name="dsl:w-step1-title"/>
          <p:cNvSpPr txBox="1"/>
          <p:nvPr/>
        </p:nvSpPr>
        <p:spPr>
          <a:xfrm>
            <a:off x="666750" y="1857375"/>
            <a:ext cx="123825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200" noProof="1">
                <a:solidFill>
                  <a:srgbClr val="1C1917"/>
                </a:solidFill>
                <a:latin typeface="Liter"/>
                <a:ea typeface="Liter"/>
              </a:rPr>
              <a:t>PLACED</a:t>
            </a:r>
          </a:p>
        </p:txBody>
      </p:sp>
      <p:sp>
        <p:nvSpPr>
          <p:cNvPr id="7" name="dsl:w-step1-body"/>
          <p:cNvSpPr txBox="1"/>
          <p:nvPr/>
        </p:nvSpPr>
        <p:spPr>
          <a:xfrm>
            <a:off x="666750" y="2143125"/>
            <a:ext cx="123825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40000"/>
              </a:lnSpc>
            </a:pPr>
            <a:r>
              <a:rPr sz="975" noProof="1">
                <a:solidFill>
                  <a:srgbClr val="64748B"/>
                </a:solidFill>
                <a:latin typeface="Liter"/>
                <a:ea typeface="Liter"/>
              </a:rPr>
              <a:t>Buyer places order or sends an inquiry</a:t>
            </a:r>
          </a:p>
        </p:txBody>
      </p:sp>
      <p:cxnSp>
        <p:nvCxnSpPr>
          <p:cNvPr id="8" name="dsl:w-conn1"/>
          <p:cNvCxnSpPr/>
          <p:nvPr/>
        </p:nvCxnSpPr>
        <p:spPr>
          <a:xfrm>
            <a:off x="2095500" y="2143125"/>
            <a:ext cx="285750" cy="0"/>
          </a:xfrm>
          <a:prstGeom prst="straightConnector1">
            <a:avLst/>
          </a:prstGeom>
          <a:ln w="12700">
            <a:solidFill>
              <a:srgbClr val="A16207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sl:w-step2-bg"/>
          <p:cNvSpPr/>
          <p:nvPr/>
        </p:nvSpPr>
        <p:spPr>
          <a:xfrm>
            <a:off x="2476500" y="1333500"/>
            <a:ext cx="1428750" cy="17145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w-step2-num"/>
          <p:cNvSpPr txBox="1"/>
          <p:nvPr/>
        </p:nvSpPr>
        <p:spPr>
          <a:xfrm>
            <a:off x="2476500" y="1428750"/>
            <a:ext cx="142875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2100" noProof="1">
                <a:solidFill>
                  <a:srgbClr val="A16207"/>
                </a:solidFill>
                <a:latin typeface="Oranienbaum"/>
                <a:ea typeface="Oranienbaum"/>
              </a:rPr>
              <a:t>02</a:t>
            </a:r>
          </a:p>
        </p:txBody>
      </p:sp>
      <p:sp>
        <p:nvSpPr>
          <p:cNvPr id="11" name="dsl:w-step2-title"/>
          <p:cNvSpPr txBox="1"/>
          <p:nvPr/>
        </p:nvSpPr>
        <p:spPr>
          <a:xfrm>
            <a:off x="2571750" y="1857375"/>
            <a:ext cx="123825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200" noProof="1">
                <a:solidFill>
                  <a:srgbClr val="1C1917"/>
                </a:solidFill>
                <a:latin typeface="Liter"/>
                <a:ea typeface="Liter"/>
              </a:rPr>
              <a:t>COUNTER</a:t>
            </a:r>
          </a:p>
        </p:txBody>
      </p:sp>
      <p:sp>
        <p:nvSpPr>
          <p:cNvPr id="12" name="dsl:w-step2-body"/>
          <p:cNvSpPr txBox="1"/>
          <p:nvPr/>
        </p:nvSpPr>
        <p:spPr>
          <a:xfrm>
            <a:off x="2571750" y="2143125"/>
            <a:ext cx="123825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40000"/>
              </a:lnSpc>
            </a:pPr>
            <a:r>
              <a:rPr sz="975" noProof="1">
                <a:solidFill>
                  <a:srgbClr val="64748B"/>
                </a:solidFill>
                <a:latin typeface="Liter"/>
                <a:ea typeface="Liter"/>
              </a:rPr>
              <a:t>Negotiate price and quantity until both agree</a:t>
            </a:r>
          </a:p>
        </p:txBody>
      </p:sp>
      <p:cxnSp>
        <p:nvCxnSpPr>
          <p:cNvPr id="13" name="dsl:w-conn2"/>
          <p:cNvCxnSpPr/>
          <p:nvPr/>
        </p:nvCxnSpPr>
        <p:spPr>
          <a:xfrm>
            <a:off x="4000500" y="2143125"/>
            <a:ext cx="285750" cy="0"/>
          </a:xfrm>
          <a:prstGeom prst="straightConnector1">
            <a:avLst/>
          </a:prstGeom>
          <a:ln w="12700">
            <a:solidFill>
              <a:srgbClr val="A16207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sl:w-step3-bg"/>
          <p:cNvSpPr/>
          <p:nvPr/>
        </p:nvSpPr>
        <p:spPr>
          <a:xfrm>
            <a:off x="4381500" y="1333500"/>
            <a:ext cx="1428750" cy="1714500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w-step3-num"/>
          <p:cNvSpPr txBox="1"/>
          <p:nvPr/>
        </p:nvSpPr>
        <p:spPr>
          <a:xfrm>
            <a:off x="4381500" y="1428750"/>
            <a:ext cx="142875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2100" noProof="1">
                <a:solidFill>
                  <a:srgbClr val="FFFFFF"/>
                </a:solidFill>
                <a:latin typeface="Oranienbaum"/>
                <a:ea typeface="Oranienbaum"/>
              </a:rPr>
              <a:t>03</a:t>
            </a:r>
          </a:p>
        </p:txBody>
      </p:sp>
      <p:sp>
        <p:nvSpPr>
          <p:cNvPr id="16" name="dsl:w-step3-title"/>
          <p:cNvSpPr txBox="1"/>
          <p:nvPr/>
        </p:nvSpPr>
        <p:spPr>
          <a:xfrm>
            <a:off x="4476750" y="1857375"/>
            <a:ext cx="123825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200" noProof="1">
                <a:solidFill>
                  <a:srgbClr val="FFFFFF"/>
                </a:solidFill>
                <a:latin typeface="Liter"/>
                <a:ea typeface="Liter"/>
              </a:rPr>
              <a:t>CONFIRMED</a:t>
            </a:r>
          </a:p>
        </p:txBody>
      </p:sp>
      <p:sp>
        <p:nvSpPr>
          <p:cNvPr id="17" name="dsl:w-step3-body"/>
          <p:cNvSpPr txBox="1"/>
          <p:nvPr/>
        </p:nvSpPr>
        <p:spPr>
          <a:xfrm>
            <a:off x="4476750" y="2143125"/>
            <a:ext cx="123825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40000"/>
              </a:lnSpc>
            </a:pPr>
            <a:r>
              <a:rPr sz="975" noProof="1">
                <a:solidFill>
                  <a:srgbClr val="FFFFFF"/>
                </a:solidFill>
                <a:latin typeface="Liter"/>
                <a:ea typeface="Liter"/>
              </a:rPr>
              <a:t>Seller accepts. Order is locked and binding.</a:t>
            </a:r>
          </a:p>
        </p:txBody>
      </p:sp>
      <p:cxnSp>
        <p:nvCxnSpPr>
          <p:cNvPr id="18" name="dsl:w-conn3"/>
          <p:cNvCxnSpPr/>
          <p:nvPr/>
        </p:nvCxnSpPr>
        <p:spPr>
          <a:xfrm>
            <a:off x="5905500" y="2143125"/>
            <a:ext cx="285750" cy="0"/>
          </a:xfrm>
          <a:prstGeom prst="straightConnector1">
            <a:avLst/>
          </a:prstGeom>
          <a:ln w="12700">
            <a:solidFill>
              <a:srgbClr val="A16207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sl:w-step4-bg"/>
          <p:cNvSpPr/>
          <p:nvPr/>
        </p:nvSpPr>
        <p:spPr>
          <a:xfrm>
            <a:off x="6286500" y="1333500"/>
            <a:ext cx="1428750" cy="17145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w-step4-num"/>
          <p:cNvSpPr txBox="1"/>
          <p:nvPr/>
        </p:nvSpPr>
        <p:spPr>
          <a:xfrm>
            <a:off x="6286500" y="1428750"/>
            <a:ext cx="142875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2100" noProof="1">
                <a:solidFill>
                  <a:srgbClr val="A16207"/>
                </a:solidFill>
                <a:latin typeface="Oranienbaum"/>
                <a:ea typeface="Oranienbaum"/>
              </a:rPr>
              <a:t>04</a:t>
            </a:r>
          </a:p>
        </p:txBody>
      </p:sp>
      <p:sp>
        <p:nvSpPr>
          <p:cNvPr id="21" name="dsl:w-step4-title"/>
          <p:cNvSpPr txBox="1"/>
          <p:nvPr/>
        </p:nvSpPr>
        <p:spPr>
          <a:xfrm>
            <a:off x="6381750" y="1857375"/>
            <a:ext cx="123825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200" noProof="1">
                <a:solidFill>
                  <a:srgbClr val="1C1917"/>
                </a:solidFill>
                <a:latin typeface="Liter"/>
                <a:ea typeface="Liter"/>
              </a:rPr>
              <a:t>SHIPPED</a:t>
            </a:r>
          </a:p>
        </p:txBody>
      </p:sp>
      <p:sp>
        <p:nvSpPr>
          <p:cNvPr id="22" name="dsl:w-step4-body"/>
          <p:cNvSpPr txBox="1"/>
          <p:nvPr/>
        </p:nvSpPr>
        <p:spPr>
          <a:xfrm>
            <a:off x="6381750" y="2143125"/>
            <a:ext cx="123825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40000"/>
              </a:lnSpc>
            </a:pPr>
            <a:r>
              <a:rPr sz="975" noProof="1">
                <a:solidFill>
                  <a:srgbClr val="64748B"/>
                </a:solidFill>
                <a:latin typeface="Liter"/>
                <a:ea typeface="Liter"/>
              </a:rPr>
              <a:t>Stock auto-deducts. Buyer gets notified.</a:t>
            </a:r>
          </a:p>
        </p:txBody>
      </p:sp>
      <p:cxnSp>
        <p:nvCxnSpPr>
          <p:cNvPr id="23" name="dsl:w-conn4"/>
          <p:cNvCxnSpPr/>
          <p:nvPr/>
        </p:nvCxnSpPr>
        <p:spPr>
          <a:xfrm>
            <a:off x="7810500" y="2143125"/>
            <a:ext cx="285750" cy="0"/>
          </a:xfrm>
          <a:prstGeom prst="straightConnector1">
            <a:avLst/>
          </a:prstGeom>
          <a:ln w="12700">
            <a:solidFill>
              <a:srgbClr val="A16207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sl:w-step5-bg"/>
          <p:cNvSpPr/>
          <p:nvPr/>
        </p:nvSpPr>
        <p:spPr>
          <a:xfrm>
            <a:off x="8191500" y="1333500"/>
            <a:ext cx="1428750" cy="171450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sl:w-step5-num"/>
          <p:cNvSpPr txBox="1"/>
          <p:nvPr/>
        </p:nvSpPr>
        <p:spPr>
          <a:xfrm>
            <a:off x="8191500" y="1428750"/>
            <a:ext cx="142875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2100" noProof="1">
                <a:solidFill>
                  <a:srgbClr val="FFFFFF"/>
                </a:solidFill>
                <a:latin typeface="Oranienbaum"/>
                <a:ea typeface="Oranienbaum"/>
              </a:rPr>
              <a:t>05</a:t>
            </a:r>
          </a:p>
        </p:txBody>
      </p:sp>
      <p:sp>
        <p:nvSpPr>
          <p:cNvPr id="26" name="dsl:w-step5-title"/>
          <p:cNvSpPr txBox="1"/>
          <p:nvPr/>
        </p:nvSpPr>
        <p:spPr>
          <a:xfrm>
            <a:off x="8286750" y="1857375"/>
            <a:ext cx="123825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200" noProof="1">
                <a:solidFill>
                  <a:srgbClr val="FFFFFF"/>
                </a:solidFill>
                <a:latin typeface="Liter"/>
                <a:ea typeface="Liter"/>
              </a:rPr>
              <a:t>DELIVERED</a:t>
            </a:r>
          </a:p>
        </p:txBody>
      </p:sp>
      <p:sp>
        <p:nvSpPr>
          <p:cNvPr id="27" name="dsl:w-step5-body"/>
          <p:cNvSpPr txBox="1"/>
          <p:nvPr/>
        </p:nvSpPr>
        <p:spPr>
          <a:xfrm>
            <a:off x="8286750" y="2143125"/>
            <a:ext cx="123825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40000"/>
              </a:lnSpc>
            </a:pPr>
            <a:r>
              <a:rPr sz="975" noProof="1">
                <a:solidFill>
                  <a:srgbClr val="FFFFFF"/>
                </a:solidFill>
                <a:latin typeface="Liter"/>
                <a:ea typeface="Liter"/>
              </a:rPr>
              <a:t>Invoice auto-generates. Asset auto-logs.</a:t>
            </a:r>
          </a:p>
        </p:txBody>
      </p:sp>
      <p:cxnSp>
        <p:nvCxnSpPr>
          <p:cNvPr id="28" name="dsl:w-conn5"/>
          <p:cNvCxnSpPr/>
          <p:nvPr/>
        </p:nvCxnSpPr>
        <p:spPr>
          <a:xfrm>
            <a:off x="9715500" y="2143125"/>
            <a:ext cx="285750" cy="0"/>
          </a:xfrm>
          <a:prstGeom prst="straightConnector1">
            <a:avLst/>
          </a:prstGeom>
          <a:ln w="12700">
            <a:solidFill>
              <a:srgbClr val="A16207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dsl:w-step6-bg"/>
          <p:cNvSpPr/>
          <p:nvPr/>
        </p:nvSpPr>
        <p:spPr>
          <a:xfrm>
            <a:off x="10096500" y="1333500"/>
            <a:ext cx="1524000" cy="17145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sl:w-step6-num"/>
          <p:cNvSpPr txBox="1"/>
          <p:nvPr/>
        </p:nvSpPr>
        <p:spPr>
          <a:xfrm>
            <a:off x="10096500" y="1428750"/>
            <a:ext cx="1524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2100" noProof="1">
                <a:solidFill>
                  <a:srgbClr val="A16207"/>
                </a:solidFill>
                <a:latin typeface="Oranienbaum"/>
                <a:ea typeface="Oranienbaum"/>
              </a:rPr>
              <a:t>06</a:t>
            </a:r>
          </a:p>
        </p:txBody>
      </p:sp>
      <p:sp>
        <p:nvSpPr>
          <p:cNvPr id="31" name="dsl:w-step6-title"/>
          <p:cNvSpPr txBox="1"/>
          <p:nvPr/>
        </p:nvSpPr>
        <p:spPr>
          <a:xfrm>
            <a:off x="10191750" y="1857375"/>
            <a:ext cx="13335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200" noProof="1">
                <a:solidFill>
                  <a:srgbClr val="1C1917"/>
                </a:solidFill>
                <a:latin typeface="Liter"/>
                <a:ea typeface="Liter"/>
              </a:rPr>
              <a:t>PAYMENT</a:t>
            </a:r>
          </a:p>
        </p:txBody>
      </p:sp>
      <p:sp>
        <p:nvSpPr>
          <p:cNvPr id="32" name="dsl:w-step6-body"/>
          <p:cNvSpPr txBox="1"/>
          <p:nvPr/>
        </p:nvSpPr>
        <p:spPr>
          <a:xfrm>
            <a:off x="10191750" y="2143125"/>
            <a:ext cx="13335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40000"/>
              </a:lnSpc>
            </a:pPr>
            <a:r>
              <a:rPr sz="975" noProof="1">
                <a:solidFill>
                  <a:srgbClr val="64748B"/>
                </a:solidFill>
                <a:latin typeface="Liter"/>
                <a:ea typeface="Liter"/>
              </a:rPr>
              <a:t>Buyer records UTR. Seller acknowledges.</a:t>
            </a:r>
          </a:p>
        </p:txBody>
      </p:sp>
      <p:sp>
        <p:nvSpPr>
          <p:cNvPr id="33" name="dsl:w-payment-bg"/>
          <p:cNvSpPr/>
          <p:nvPr/>
        </p:nvSpPr>
        <p:spPr>
          <a:xfrm>
            <a:off x="571500" y="3524250"/>
            <a:ext cx="11049000" cy="11430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sl:w-payment-title"/>
          <p:cNvSpPr txBox="1"/>
          <p:nvPr/>
        </p:nvSpPr>
        <p:spPr>
          <a:xfrm>
            <a:off x="762000" y="3667125"/>
            <a:ext cx="28575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 spc="150">
                <a:solidFill>
                  <a:srgbClr val="A16207"/>
                </a:solidFill>
                <a:latin typeface="Liter"/>
                <a:ea typeface="Liter"/>
              </a:rPr>
              <a:t>PAYMENT TRUST LEDGER</a:t>
            </a:r>
          </a:p>
        </p:txBody>
      </p:sp>
      <p:sp>
        <p:nvSpPr>
          <p:cNvPr id="35" name="dsl:w-payment-body"/>
          <p:cNvSpPr txBox="1"/>
          <p:nvPr/>
        </p:nvSpPr>
        <p:spPr>
          <a:xfrm>
            <a:off x="762000" y="4000500"/>
            <a:ext cx="10668000" cy="5238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C1917"/>
                </a:solidFill>
                <a:latin typeface="Liter"/>
                <a:ea typeface="Liter"/>
              </a:rPr>
              <a:t>Buyers pay sellers directly via bank transfer or UPI. The platform records the transaction with UTR. Both parties have a shared, immutable record of every payment — acknowledged or disputed. Zero ambiguity.</a:t>
            </a:r>
          </a:p>
        </p:txBody>
      </p:sp>
      <p:sp>
        <p:nvSpPr>
          <p:cNvPr id="36" name="dsl:w-review-bg"/>
          <p:cNvSpPr/>
          <p:nvPr/>
        </p:nvSpPr>
        <p:spPr>
          <a:xfrm>
            <a:off x="571500" y="4953000"/>
            <a:ext cx="11049000" cy="11430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sl:w-review-title"/>
          <p:cNvSpPr txBox="1"/>
          <p:nvPr/>
        </p:nvSpPr>
        <p:spPr>
          <a:xfrm>
            <a:off x="762000" y="5095875"/>
            <a:ext cx="28575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 spc="150">
                <a:solidFill>
                  <a:srgbClr val="A16207"/>
                </a:solidFill>
                <a:latin typeface="Liter"/>
                <a:ea typeface="Liter"/>
              </a:rPr>
              <a:t>VERIFIED REVIEWS</a:t>
            </a:r>
          </a:p>
        </p:txBody>
      </p:sp>
      <p:sp>
        <p:nvSpPr>
          <p:cNvPr id="38" name="dsl:w-review-body"/>
          <p:cNvSpPr txBox="1"/>
          <p:nvPr/>
        </p:nvSpPr>
        <p:spPr>
          <a:xfrm>
            <a:off x="762000" y="5429250"/>
            <a:ext cx="10668000" cy="5238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C1917"/>
                </a:solidFill>
                <a:latin typeface="Liter"/>
                <a:ea typeface="Liter"/>
              </a:rPr>
              <a:t>After delivery, both parties rate each other. Reviews are tied to real orders, not anonymous profiles. This builds trust for the next transaction.</a:t>
            </a:r>
          </a:p>
        </p:txBody>
      </p:sp>
      <p:sp>
        <p:nvSpPr>
          <p:cNvPr id="39" name="dsl:w-pagenum|s=$caption"/>
          <p:cNvSpPr txBox="1"/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Liter"/>
                <a:ea typeface="Li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ch6-left-bg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ch6-num|s=$chapterNum"/>
          <p:cNvSpPr txBox="1"/>
          <p:nvPr/>
        </p:nvSpPr>
        <p:spPr>
          <a:xfrm>
            <a:off x="571500" y="2476500"/>
            <a:ext cx="4953000" cy="952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400" noProof="1">
                <a:solidFill>
                  <a:srgbClr val="FFFFFF"/>
                </a:solidFill>
                <a:latin typeface="Oranienbaum"/>
                <a:ea typeface="Oranienbaum"/>
              </a:rPr>
              <a:t>06</a:t>
            </a:r>
          </a:p>
        </p:txBody>
      </p:sp>
      <p:sp>
        <p:nvSpPr>
          <p:cNvPr id="4" name="dsl:ch6-title|s=$chapterTitle"/>
          <p:cNvSpPr txBox="1"/>
          <p:nvPr/>
        </p:nvSpPr>
        <p:spPr>
          <a:xfrm>
            <a:off x="6667500" y="2667000"/>
            <a:ext cx="4953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400" noProof="1">
                <a:solidFill>
                  <a:srgbClr val="1C1917"/>
                </a:solidFill>
                <a:latin typeface="Oranienbaum"/>
                <a:ea typeface="Oranienbaum"/>
              </a:rPr>
              <a:t>Business Model</a:t>
            </a:r>
          </a:p>
        </p:txBody>
      </p:sp>
      <p:sp>
        <p:nvSpPr>
          <p:cNvPr id="5" name="dsl:ch6-subtitle|s=$subtitle"/>
          <p:cNvSpPr txBox="1"/>
          <p:nvPr/>
        </p:nvSpPr>
        <p:spPr>
          <a:xfrm>
            <a:off x="6667500" y="3238500"/>
            <a:ext cx="4953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noProof="1">
                <a:solidFill>
                  <a:srgbClr val="64748B"/>
                </a:solidFill>
                <a:latin typeface="Liter"/>
                <a:ea typeface="Liter"/>
              </a:rPr>
              <a:t>Commission on transactions. Subscription for premium features.</a:t>
            </a:r>
          </a:p>
        </p:txBody>
      </p:sp>
      <p:cxnSp>
        <p:nvCxnSpPr>
          <p:cNvPr id="6" name="dsl:ch6-line"/>
          <p:cNvCxnSpPr/>
          <p:nvPr/>
        </p:nvCxnSpPr>
        <p:spPr>
          <a:xfrm>
            <a:off x="6667500" y="3714750"/>
            <a:ext cx="571500" cy="0"/>
          </a:xfrm>
          <a:prstGeom prst="straightConnector1">
            <a:avLst/>
          </a:prstGeom>
          <a:ln w="25400">
            <a:solidFill>
              <a:srgbClr val="A16207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m-title|s=$title"/>
          <p:cNvSpPr txBox="1"/>
          <p:nvPr/>
        </p:nvSpPr>
        <p:spPr>
          <a:xfrm>
            <a:off x="571500" y="476250"/>
            <a:ext cx="104775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100" noProof="1">
                <a:solidFill>
                  <a:srgbClr val="1C1917"/>
                </a:solidFill>
                <a:latin typeface="Oranienbaum"/>
                <a:ea typeface="Oranienbaum"/>
              </a:rPr>
              <a:t>Revenue: 3–5% Commission + Tiered Subscriptions</a:t>
            </a:r>
          </a:p>
        </p:txBody>
      </p:sp>
      <p:cxnSp>
        <p:nvCxnSpPr>
          <p:cNvPr id="3" name="dsl:m-line"/>
          <p:cNvCxnSpPr/>
          <p:nvPr/>
        </p:nvCxnSpPr>
        <p:spPr>
          <a:xfrm>
            <a:off x="571500" y="1000125"/>
            <a:ext cx="762000" cy="0"/>
          </a:xfrm>
          <a:prstGeom prst="straightConnector1">
            <a:avLst/>
          </a:prstGeom>
          <a:ln w="25400">
            <a:solidFill>
              <a:srgbClr val="A16207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sl:m-commission-num|s=$bigNumber"/>
          <p:cNvSpPr txBox="1"/>
          <p:nvPr/>
        </p:nvSpPr>
        <p:spPr>
          <a:xfrm>
            <a:off x="571500" y="1428750"/>
            <a:ext cx="381000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3600" noProof="1">
                <a:solidFill>
                  <a:srgbClr val="A16207"/>
                </a:solidFill>
                <a:latin typeface="Liter"/>
                <a:ea typeface="Liter"/>
              </a:rPr>
              <a:t>3–5%</a:t>
            </a:r>
          </a:p>
        </p:txBody>
      </p:sp>
      <p:sp>
        <p:nvSpPr>
          <p:cNvPr id="5" name="dsl:m-commission-label"/>
          <p:cNvSpPr txBox="1"/>
          <p:nvPr/>
        </p:nvSpPr>
        <p:spPr>
          <a:xfrm>
            <a:off x="571500" y="2143125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1C1917"/>
                </a:solidFill>
                <a:latin typeface="Liter"/>
                <a:ea typeface="Liter"/>
              </a:rPr>
              <a:t>Commission on GMV</a:t>
            </a:r>
          </a:p>
        </p:txBody>
      </p:sp>
      <p:sp>
        <p:nvSpPr>
          <p:cNvPr id="6" name="dsl:m-commission-body"/>
          <p:cNvSpPr txBox="1"/>
          <p:nvPr/>
        </p:nvSpPr>
        <p:spPr>
          <a:xfrm>
            <a:off x="571500" y="2524125"/>
            <a:ext cx="38100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64748B"/>
                </a:solidFill>
                <a:latin typeface="Liter"/>
                <a:ea typeface="Liter"/>
              </a:rPr>
              <a:t>Sellers pay only when they earn. No upfront fees, no listing charges. The platform takes a small percentage of every successful order.</a:t>
            </a:r>
          </a:p>
        </p:txBody>
      </p:sp>
      <p:cxnSp>
        <p:nvCxnSpPr>
          <p:cNvPr id="7" name="dsl:m-divider"/>
          <p:cNvCxnSpPr/>
          <p:nvPr/>
        </p:nvCxnSpPr>
        <p:spPr>
          <a:xfrm>
            <a:off x="4762500" y="1428750"/>
            <a:ext cx="0" cy="2095500"/>
          </a:xfrm>
          <a:prstGeom prst="straightConnector1">
            <a:avLst/>
          </a:prstGeom>
          <a:ln w="12700">
            <a:solidFill>
              <a:srgbClr val="E7E5E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sl:m-sub-title"/>
          <p:cNvSpPr txBox="1"/>
          <p:nvPr/>
        </p:nvSpPr>
        <p:spPr>
          <a:xfrm>
            <a:off x="5143500" y="142875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1C1917"/>
                </a:solidFill>
                <a:latin typeface="Liter"/>
                <a:ea typeface="Liter"/>
              </a:rPr>
              <a:t>Subscription Tiers</a:t>
            </a:r>
          </a:p>
        </p:txBody>
      </p:sp>
      <p:graphicFrame>
        <p:nvGraphicFramePr>
          <p:cNvPr id="9" name="dsl:m-tier-table"/>
          <p:cNvGraphicFramePr>
            <a:graphicFrameLocks noGrp="1"/>
          </p:cNvGraphicFramePr>
          <p:nvPr/>
        </p:nvGraphicFramePr>
        <p:xfrm>
          <a:off x="5143500" y="1905000"/>
          <a:ext cx="6477000" cy="1619249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943100"/>
                <a:gridCol w="1619250"/>
                <a:gridCol w="1619250"/>
                <a:gridCol w="1295400"/>
              </a:tblGrid>
              <a:tr h="48577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Liter"/>
                          <a:ea typeface="Liter"/>
                        </a:rPr>
                        <a:t>Feature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</a:lnB>
                    <a:solidFill>
                      <a:srgbClr val="A16207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Liter"/>
                          <a:ea typeface="Liter"/>
                        </a:rPr>
                        <a:t>Basic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</a:lnB>
                    <a:solidFill>
                      <a:srgbClr val="A16207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Liter"/>
                          <a:ea typeface="Liter"/>
                        </a:rPr>
                        <a:t>Pro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</a:lnB>
                    <a:solidFill>
                      <a:srgbClr val="A16207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Liter"/>
                          <a:ea typeface="Liter"/>
                        </a:rPr>
                        <a:t>Enterprise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</a:lnB>
                    <a:solidFill>
                      <a:srgbClr val="A16207"/>
                    </a:solidFill>
                  </a:tcPr>
                </a:tc>
              </a:tr>
              <a:tr h="566737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C1917"/>
                          </a:solidFill>
                          <a:latin typeface="Liter"/>
                          <a:ea typeface="Liter"/>
                        </a:rPr>
                        <a:t>Price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C1917"/>
                          </a:solidFill>
                          <a:latin typeface="Liter"/>
                          <a:ea typeface="Liter"/>
                        </a:rPr>
                        <a:t>Free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C1917"/>
                          </a:solidFill>
                          <a:latin typeface="Liter"/>
                          <a:ea typeface="Liter"/>
                        </a:rPr>
                        <a:t>₹999/mo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C1917"/>
                          </a:solidFill>
                          <a:latin typeface="Liter"/>
                          <a:ea typeface="Liter"/>
                        </a:rPr>
                        <a:t>₹2,999/mo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</a:lnB>
                    <a:solidFill>
                      <a:srgbClr val="FAFAF9"/>
                    </a:solidFill>
                  </a:tcPr>
                </a:tc>
              </a:tr>
              <a:tr h="566737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C1917"/>
                          </a:solidFill>
                          <a:latin typeface="Liter"/>
                          <a:ea typeface="Liter"/>
                        </a:rPr>
                        <a:t>Key Benefit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C1917"/>
                          </a:solidFill>
                          <a:latin typeface="Liter"/>
                          <a:ea typeface="Liter"/>
                        </a:rPr>
                        <a:t>Standard listing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C1917"/>
                          </a:solidFill>
                          <a:latin typeface="Liter"/>
                          <a:ea typeface="Liter"/>
                        </a:rPr>
                        <a:t>Featured placement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C1917"/>
                          </a:solidFill>
                          <a:latin typeface="Liter"/>
                          <a:ea typeface="Liter"/>
                        </a:rPr>
                        <a:t>Dedicated manager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</a:lnB>
                    <a:solidFill>
                      <a:srgbClr val="F5F5F4"/>
                    </a:solidFill>
                  </a:tcPr>
                </a:tc>
              </a:tr>
            </a:tbl>
          </a:graphicData>
        </a:graphic>
      </p:graphicFrame>
      <p:sp>
        <p:nvSpPr>
          <p:cNvPr id="10" name="dsl:m-projection-bg"/>
          <p:cNvSpPr/>
          <p:nvPr/>
        </p:nvSpPr>
        <p:spPr>
          <a:xfrm>
            <a:off x="571500" y="4000500"/>
            <a:ext cx="11049000" cy="20955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m-projection-label"/>
          <p:cNvSpPr txBox="1"/>
          <p:nvPr/>
        </p:nvSpPr>
        <p:spPr>
          <a:xfrm>
            <a:off x="762000" y="4143375"/>
            <a:ext cx="28575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 spc="150">
                <a:solidFill>
                  <a:srgbClr val="A16207"/>
                </a:solidFill>
                <a:latin typeface="Liter"/>
                <a:ea typeface="Liter"/>
              </a:rPr>
              <a:t>90-DAY PROJECTION</a:t>
            </a:r>
          </a:p>
        </p:txBody>
      </p:sp>
      <p:sp>
        <p:nvSpPr>
          <p:cNvPr id="12" name="dsl:m-proj-num1|s=$bigNumber"/>
          <p:cNvSpPr txBox="1"/>
          <p:nvPr/>
        </p:nvSpPr>
        <p:spPr>
          <a:xfrm>
            <a:off x="762000" y="4572000"/>
            <a:ext cx="238125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3000" noProof="1">
                <a:solidFill>
                  <a:srgbClr val="A16207"/>
                </a:solidFill>
                <a:latin typeface="Liter"/>
                <a:ea typeface="Liter"/>
              </a:rPr>
              <a:t>₹5L</a:t>
            </a:r>
          </a:p>
        </p:txBody>
      </p:sp>
      <p:sp>
        <p:nvSpPr>
          <p:cNvPr id="13" name="dsl:m-proj-label1"/>
          <p:cNvSpPr txBox="1"/>
          <p:nvPr/>
        </p:nvSpPr>
        <p:spPr>
          <a:xfrm>
            <a:off x="762000" y="5143500"/>
            <a:ext cx="238125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64748B"/>
                </a:solidFill>
                <a:latin typeface="Liter"/>
                <a:ea typeface="Liter"/>
              </a:rPr>
              <a:t>GMV Target</a:t>
            </a:r>
          </a:p>
        </p:txBody>
      </p:sp>
      <p:sp>
        <p:nvSpPr>
          <p:cNvPr id="14" name="dsl:m-proj-num2|s=$bigNumber"/>
          <p:cNvSpPr txBox="1"/>
          <p:nvPr/>
        </p:nvSpPr>
        <p:spPr>
          <a:xfrm>
            <a:off x="3619500" y="4572000"/>
            <a:ext cx="238125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3000" noProof="1">
                <a:solidFill>
                  <a:srgbClr val="A16207"/>
                </a:solidFill>
                <a:latin typeface="Liter"/>
                <a:ea typeface="Liter"/>
              </a:rPr>
              <a:t>₹25K</a:t>
            </a:r>
          </a:p>
        </p:txBody>
      </p:sp>
      <p:sp>
        <p:nvSpPr>
          <p:cNvPr id="15" name="dsl:m-proj-label2"/>
          <p:cNvSpPr txBox="1"/>
          <p:nvPr/>
        </p:nvSpPr>
        <p:spPr>
          <a:xfrm>
            <a:off x="3619500" y="5143500"/>
            <a:ext cx="238125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64748B"/>
                </a:solidFill>
                <a:latin typeface="Liter"/>
                <a:ea typeface="Liter"/>
              </a:rPr>
              <a:t>Commission Revenue</a:t>
            </a:r>
          </a:p>
        </p:txBody>
      </p:sp>
      <p:sp>
        <p:nvSpPr>
          <p:cNvPr id="16" name="dsl:m-proj-num3|s=$bigNumber"/>
          <p:cNvSpPr txBox="1"/>
          <p:nvPr/>
        </p:nvSpPr>
        <p:spPr>
          <a:xfrm>
            <a:off x="6477000" y="4572000"/>
            <a:ext cx="238125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3000" noProof="1">
                <a:solidFill>
                  <a:srgbClr val="A16207"/>
                </a:solidFill>
                <a:latin typeface="Liter"/>
                <a:ea typeface="Liter"/>
              </a:rPr>
              <a:t>25</a:t>
            </a:r>
          </a:p>
        </p:txBody>
      </p:sp>
      <p:sp>
        <p:nvSpPr>
          <p:cNvPr id="17" name="dsl:m-proj-label3"/>
          <p:cNvSpPr txBox="1"/>
          <p:nvPr/>
        </p:nvSpPr>
        <p:spPr>
          <a:xfrm>
            <a:off x="6477000" y="5143500"/>
            <a:ext cx="238125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64748B"/>
                </a:solidFill>
                <a:latin typeface="Liter"/>
                <a:ea typeface="Liter"/>
              </a:rPr>
              <a:t>Active Sellers</a:t>
            </a:r>
          </a:p>
        </p:txBody>
      </p:sp>
      <p:sp>
        <p:nvSpPr>
          <p:cNvPr id="18" name="dsl:m-proj-num4|s=$bigNumber"/>
          <p:cNvSpPr txBox="1"/>
          <p:nvPr/>
        </p:nvSpPr>
        <p:spPr>
          <a:xfrm>
            <a:off x="9334500" y="4572000"/>
            <a:ext cx="20955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3000" noProof="1">
                <a:solidFill>
                  <a:srgbClr val="A16207"/>
                </a:solidFill>
                <a:latin typeface="Liter"/>
                <a:ea typeface="Liter"/>
              </a:rPr>
              <a:t>10</a:t>
            </a:r>
          </a:p>
        </p:txBody>
      </p:sp>
      <p:sp>
        <p:nvSpPr>
          <p:cNvPr id="19" name="dsl:m-proj-label4"/>
          <p:cNvSpPr txBox="1"/>
          <p:nvPr/>
        </p:nvSpPr>
        <p:spPr>
          <a:xfrm>
            <a:off x="9334500" y="5143500"/>
            <a:ext cx="20955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64748B"/>
                </a:solidFill>
                <a:latin typeface="Liter"/>
                <a:ea typeface="Liter"/>
              </a:rPr>
              <a:t>Buyer Companies</a:t>
            </a:r>
          </a:p>
        </p:txBody>
      </p:sp>
      <p:sp>
        <p:nvSpPr>
          <p:cNvPr id="20" name="dsl:m-pagenum|s=$caption"/>
          <p:cNvSpPr txBox="1"/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Liter"/>
                <a:ea typeface="Li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ch7-left-bg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ch7-num|s=$chapterNum"/>
          <p:cNvSpPr txBox="1"/>
          <p:nvPr/>
        </p:nvSpPr>
        <p:spPr>
          <a:xfrm>
            <a:off x="571500" y="2476500"/>
            <a:ext cx="4953000" cy="952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400" noProof="1">
                <a:solidFill>
                  <a:srgbClr val="FFFFFF"/>
                </a:solidFill>
                <a:latin typeface="Oranienbaum"/>
                <a:ea typeface="Oranienbaum"/>
              </a:rPr>
              <a:t>07</a:t>
            </a:r>
          </a:p>
        </p:txBody>
      </p:sp>
      <p:sp>
        <p:nvSpPr>
          <p:cNvPr id="4" name="dsl:ch7-title|s=$chapterTitle"/>
          <p:cNvSpPr txBox="1"/>
          <p:nvPr/>
        </p:nvSpPr>
        <p:spPr>
          <a:xfrm>
            <a:off x="6667500" y="2667000"/>
            <a:ext cx="4953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400" noProof="1">
                <a:solidFill>
                  <a:srgbClr val="1C1917"/>
                </a:solidFill>
                <a:latin typeface="Oranienbaum"/>
                <a:ea typeface="Oranienbaum"/>
              </a:rPr>
              <a:t>Competitive Edge</a:t>
            </a:r>
          </a:p>
        </p:txBody>
      </p:sp>
      <p:sp>
        <p:nvSpPr>
          <p:cNvPr id="5" name="dsl:ch7-subtitle|s=$subtitle"/>
          <p:cNvSpPr txBox="1"/>
          <p:nvPr/>
        </p:nvSpPr>
        <p:spPr>
          <a:xfrm>
            <a:off x="6667500" y="3238500"/>
            <a:ext cx="4953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noProof="1">
                <a:solidFill>
                  <a:srgbClr val="64748B"/>
                </a:solidFill>
                <a:latin typeface="Liter"/>
                <a:ea typeface="Liter"/>
              </a:rPr>
              <a:t>What no other platform does</a:t>
            </a:r>
          </a:p>
        </p:txBody>
      </p:sp>
      <p:cxnSp>
        <p:nvCxnSpPr>
          <p:cNvPr id="6" name="dsl:ch7-line"/>
          <p:cNvCxnSpPr/>
          <p:nvPr/>
        </p:nvCxnSpPr>
        <p:spPr>
          <a:xfrm>
            <a:off x="6667500" y="3714750"/>
            <a:ext cx="571500" cy="0"/>
          </a:xfrm>
          <a:prstGeom prst="straightConnector1">
            <a:avLst/>
          </a:prstGeom>
          <a:ln w="25400">
            <a:solidFill>
              <a:srgbClr val="A16207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e-title|s=$title"/>
          <p:cNvSpPr txBox="1"/>
          <p:nvPr/>
        </p:nvSpPr>
        <p:spPr>
          <a:xfrm>
            <a:off x="571500" y="476250"/>
            <a:ext cx="104775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100" noProof="1">
                <a:solidFill>
                  <a:srgbClr val="1C1917"/>
                </a:solidFill>
                <a:latin typeface="Oranienbaum"/>
                <a:ea typeface="Oranienbaum"/>
              </a:rPr>
              <a:t>Why Corpass Wins: Asset Management Is the Moat</a:t>
            </a:r>
          </a:p>
        </p:txBody>
      </p:sp>
      <p:cxnSp>
        <p:nvCxnSpPr>
          <p:cNvPr id="3" name="dsl:e-line"/>
          <p:cNvCxnSpPr/>
          <p:nvPr/>
        </p:nvCxnSpPr>
        <p:spPr>
          <a:xfrm>
            <a:off x="571500" y="1000125"/>
            <a:ext cx="762000" cy="0"/>
          </a:xfrm>
          <a:prstGeom prst="straightConnector1">
            <a:avLst/>
          </a:prstGeom>
          <a:ln w="25400">
            <a:solidFill>
              <a:srgbClr val="A16207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sl:e-card1-bg"/>
          <p:cNvSpPr/>
          <p:nvPr/>
        </p:nvSpPr>
        <p:spPr>
          <a:xfrm>
            <a:off x="571500" y="1333500"/>
            <a:ext cx="2476500" cy="22860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e-card1-title"/>
          <p:cNvSpPr txBox="1"/>
          <p:nvPr/>
        </p:nvSpPr>
        <p:spPr>
          <a:xfrm>
            <a:off x="714375" y="1476375"/>
            <a:ext cx="219075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C1917"/>
                </a:solidFill>
                <a:latin typeface="Liter"/>
                <a:ea typeface="Liter"/>
              </a:rPr>
              <a:t>IndiaMart</a:t>
            </a:r>
          </a:p>
        </p:txBody>
      </p:sp>
      <p:sp>
        <p:nvSpPr>
          <p:cNvPr id="6" name="dsl:e-card1-body"/>
          <p:cNvSpPr txBox="1"/>
          <p:nvPr/>
        </p:nvSpPr>
        <p:spPr>
          <a:xfrm>
            <a:off x="714375" y="1857375"/>
            <a:ext cx="2190750" cy="1619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64748B"/>
                </a:solidFill>
                <a:latin typeface="Liter"/>
                <a:ea typeface="Liter"/>
              </a:rPr>
              <a:t>Discovery only</a:t>
            </a: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64748B"/>
                </a:solidFill>
                <a:latin typeface="Liter"/>
                <a:ea typeface="Liter"/>
              </a:rPr>
              <a:t>No order tracking</a:t>
            </a: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64748B"/>
                </a:solidFill>
                <a:latin typeface="Liter"/>
                <a:ea typeface="Liter"/>
              </a:rPr>
              <a:t>No payment records</a:t>
            </a: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64748B"/>
                </a:solidFill>
                <a:latin typeface="Liter"/>
                <a:ea typeface="Liter"/>
              </a:rPr>
              <a:t>No asset management</a:t>
            </a:r>
          </a:p>
        </p:txBody>
      </p:sp>
      <p:sp>
        <p:nvSpPr>
          <p:cNvPr id="7" name="dsl:e-card2-bg"/>
          <p:cNvSpPr/>
          <p:nvPr/>
        </p:nvSpPr>
        <p:spPr>
          <a:xfrm>
            <a:off x="3333750" y="1333500"/>
            <a:ext cx="2476500" cy="22860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e-card2-title"/>
          <p:cNvSpPr txBox="1"/>
          <p:nvPr/>
        </p:nvSpPr>
        <p:spPr>
          <a:xfrm>
            <a:off x="3476625" y="1476375"/>
            <a:ext cx="219075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C1917"/>
                </a:solidFill>
                <a:latin typeface="Liter"/>
                <a:ea typeface="Liter"/>
              </a:rPr>
              <a:t>Amazon Business</a:t>
            </a:r>
          </a:p>
        </p:txBody>
      </p:sp>
      <p:sp>
        <p:nvSpPr>
          <p:cNvPr id="9" name="dsl:e-card2-body"/>
          <p:cNvSpPr txBox="1"/>
          <p:nvPr/>
        </p:nvSpPr>
        <p:spPr>
          <a:xfrm>
            <a:off x="3476625" y="1857375"/>
            <a:ext cx="2190750" cy="1619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64748B"/>
                </a:solidFill>
                <a:latin typeface="Liter"/>
                <a:ea typeface="Liter"/>
              </a:rPr>
              <a:t>B2C checkout model</a:t>
            </a: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64748B"/>
                </a:solidFill>
                <a:latin typeface="Liter"/>
                <a:ea typeface="Liter"/>
              </a:rPr>
              <a:t>No negotiation</a:t>
            </a: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64748B"/>
                </a:solidFill>
                <a:latin typeface="Liter"/>
                <a:ea typeface="Liter"/>
              </a:rPr>
              <a:t>No asset tracking</a:t>
            </a: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64748B"/>
                </a:solidFill>
                <a:latin typeface="Liter"/>
                <a:ea typeface="Liter"/>
              </a:rPr>
              <a:t>No condition monitoring</a:t>
            </a:r>
          </a:p>
        </p:txBody>
      </p:sp>
      <p:sp>
        <p:nvSpPr>
          <p:cNvPr id="10" name="dsl:e-card3-bg"/>
          <p:cNvSpPr/>
          <p:nvPr/>
        </p:nvSpPr>
        <p:spPr>
          <a:xfrm>
            <a:off x="6096000" y="1333500"/>
            <a:ext cx="2476500" cy="22860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e-card3-title"/>
          <p:cNvSpPr txBox="1"/>
          <p:nvPr/>
        </p:nvSpPr>
        <p:spPr>
          <a:xfrm>
            <a:off x="6238875" y="1476375"/>
            <a:ext cx="219075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C1917"/>
                </a:solidFill>
                <a:latin typeface="Liter"/>
                <a:ea typeface="Liter"/>
              </a:rPr>
              <a:t>SAP Ariba</a:t>
            </a:r>
          </a:p>
        </p:txBody>
      </p:sp>
      <p:sp>
        <p:nvSpPr>
          <p:cNvPr id="12" name="dsl:e-card3-body"/>
          <p:cNvSpPr txBox="1"/>
          <p:nvPr/>
        </p:nvSpPr>
        <p:spPr>
          <a:xfrm>
            <a:off x="6238875" y="1857375"/>
            <a:ext cx="2190750" cy="1619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64748B"/>
                </a:solidFill>
                <a:latin typeface="Liter"/>
                <a:ea typeface="Liter"/>
              </a:rPr>
              <a:t>Enterprise-only</a:t>
            </a: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64748B"/>
                </a:solidFill>
                <a:latin typeface="Liter"/>
                <a:ea typeface="Liter"/>
              </a:rPr>
              <a:t>Complex implementation</a:t>
            </a: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64748B"/>
                </a:solidFill>
                <a:latin typeface="Liter"/>
                <a:ea typeface="Liter"/>
              </a:rPr>
              <a:t>6-month onboarding</a:t>
            </a: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64748B"/>
                </a:solidFill>
                <a:latin typeface="Liter"/>
                <a:ea typeface="Liter"/>
              </a:rPr>
              <a:t>₹10L+ setup cost</a:t>
            </a:r>
          </a:p>
        </p:txBody>
      </p:sp>
      <p:sp>
        <p:nvSpPr>
          <p:cNvPr id="13" name="dsl:e-card4-bg"/>
          <p:cNvSpPr/>
          <p:nvPr/>
        </p:nvSpPr>
        <p:spPr>
          <a:xfrm>
            <a:off x="8858250" y="1333500"/>
            <a:ext cx="2762250" cy="22860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e-card4-title"/>
          <p:cNvSpPr txBox="1"/>
          <p:nvPr/>
        </p:nvSpPr>
        <p:spPr>
          <a:xfrm>
            <a:off x="9001125" y="1476375"/>
            <a:ext cx="2476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C1917"/>
                </a:solidFill>
                <a:latin typeface="Liter"/>
                <a:ea typeface="Liter"/>
              </a:rPr>
              <a:t>Custom ERP</a:t>
            </a:r>
          </a:p>
        </p:txBody>
      </p:sp>
      <p:sp>
        <p:nvSpPr>
          <p:cNvPr id="15" name="dsl:e-card4-body"/>
          <p:cNvSpPr txBox="1"/>
          <p:nvPr/>
        </p:nvSpPr>
        <p:spPr>
          <a:xfrm>
            <a:off x="9001125" y="1857375"/>
            <a:ext cx="2476500" cy="1619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64748B"/>
                </a:solidFill>
                <a:latin typeface="Liter"/>
                <a:ea typeface="Liter"/>
              </a:rPr>
              <a:t>₹10L+ setup</a:t>
            </a: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64748B"/>
                </a:solidFill>
                <a:latin typeface="Liter"/>
                <a:ea typeface="Liter"/>
              </a:rPr>
              <a:t>Requires IT team</a:t>
            </a: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64748B"/>
                </a:solidFill>
                <a:latin typeface="Liter"/>
                <a:ea typeface="Liter"/>
              </a:rPr>
              <a:t>No marketplace discovery</a:t>
            </a: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64748B"/>
                </a:solidFill>
                <a:latin typeface="Liter"/>
                <a:ea typeface="Liter"/>
              </a:rPr>
              <a:t>Months to deploy</a:t>
            </a:r>
          </a:p>
        </p:txBody>
      </p:sp>
      <p:sp>
        <p:nvSpPr>
          <p:cNvPr id="16" name="dsl:e-corpass-bg"/>
          <p:cNvSpPr/>
          <p:nvPr/>
        </p:nvSpPr>
        <p:spPr>
          <a:xfrm>
            <a:off x="571500" y="4000500"/>
            <a:ext cx="11049000" cy="1905000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e-corpass-label"/>
          <p:cNvSpPr txBox="1"/>
          <p:nvPr/>
        </p:nvSpPr>
        <p:spPr>
          <a:xfrm>
            <a:off x="762000" y="4143375"/>
            <a:ext cx="19050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 spc="150">
                <a:solidFill>
                  <a:srgbClr val="FFFFFF"/>
                </a:solidFill>
                <a:latin typeface="Liter"/>
                <a:ea typeface="Liter"/>
              </a:rPr>
              <a:t>CORPASS</a:t>
            </a:r>
          </a:p>
        </p:txBody>
      </p:sp>
      <p:sp>
        <p:nvSpPr>
          <p:cNvPr id="18" name="dsl:e-corpass-body"/>
          <p:cNvSpPr txBox="1"/>
          <p:nvPr/>
        </p:nvSpPr>
        <p:spPr>
          <a:xfrm>
            <a:off x="762000" y="4524375"/>
            <a:ext cx="106680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b="1" sz="1500" noProof="1">
                <a:solidFill>
                  <a:srgbClr val="FFFFFF"/>
                </a:solidFill>
                <a:latin typeface="Liter"/>
                <a:ea typeface="Liter"/>
              </a:rPr>
              <a:t>Marketplace</a:t>
            </a:r>
            <a:r>
              <a:rPr sz="1500" noProof="1">
                <a:solidFill>
                  <a:srgbClr val="FFFFFF"/>
                </a:solidFill>
                <a:latin typeface="Liter"/>
                <a:ea typeface="Liter"/>
              </a:rPr>
              <a:t> + </a:t>
            </a:r>
            <a:r>
              <a:rPr b="1" sz="1500" noProof="1">
                <a:solidFill>
                  <a:srgbClr val="FFFFFF"/>
                </a:solidFill>
                <a:latin typeface="Liter"/>
                <a:ea typeface="Liter"/>
              </a:rPr>
              <a:t>Negotiation</a:t>
            </a:r>
            <a:r>
              <a:rPr sz="1500" noProof="1">
                <a:solidFill>
                  <a:srgbClr val="FFFFFF"/>
                </a:solidFill>
                <a:latin typeface="Liter"/>
                <a:ea typeface="Liter"/>
              </a:rPr>
              <a:t> + </a:t>
            </a:r>
            <a:r>
              <a:rPr b="1" sz="1500" noProof="1">
                <a:solidFill>
                  <a:srgbClr val="FFFFFF"/>
                </a:solidFill>
                <a:latin typeface="Liter"/>
                <a:ea typeface="Liter"/>
              </a:rPr>
              <a:t>Payment Trust</a:t>
            </a:r>
            <a:r>
              <a:rPr sz="1500" noProof="1">
                <a:solidFill>
                  <a:srgbClr val="FFFFFF"/>
                </a:solidFill>
                <a:latin typeface="Liter"/>
                <a:ea typeface="Liter"/>
              </a:rPr>
              <a:t> + </a:t>
            </a:r>
            <a:r>
              <a:rPr b="1" sz="1500" noProof="1">
                <a:solidFill>
                  <a:srgbClr val="FFFFFF"/>
                </a:solidFill>
                <a:latin typeface="Liter"/>
                <a:ea typeface="Liter"/>
              </a:rPr>
              <a:t>Asset Management</a:t>
            </a:r>
            <a:r>
              <a:rPr sz="1500" noProof="1">
                <a:solidFill>
                  <a:srgbClr val="FFFFFF"/>
                </a:solidFill>
                <a:latin typeface="Liter"/>
                <a:ea typeface="Liter"/>
              </a:rPr>
              <a:t> in one flow.</a:t>
            </a:r>
          </a:p>
          <a:p>
            <a:pPr algn="l">
              <a:lnSpc>
                <a:spcPct val="160000"/>
              </a:lnSpc>
            </a:pPr>
            <a:r>
              <a:rPr sz="1500" noProof="1">
                <a:solidFill>
                  <a:srgbClr val="FFFFFF"/>
                </a:solidFill>
                <a:latin typeface="Liter"/>
                <a:ea typeface="Liter"/>
              </a:rPr>
              <a:t>Built for Indian SMBs. Live in 48 hours. Zero setup cost.</a:t>
            </a:r>
          </a:p>
        </p:txBody>
      </p:sp>
      <p:sp>
        <p:nvSpPr>
          <p:cNvPr id="19" name="dsl:e-pagenum|s=$caption"/>
          <p:cNvSpPr txBox="1"/>
          <p:nvPr/>
        </p:nvSpPr>
        <p:spPr>
          <a:xfrm>
            <a:off x="11049000" y="638175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Liter"/>
                <a:ea typeface="Lite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f-title"/>
          <p:cNvSpPr txBox="1"/>
          <p:nvPr/>
        </p:nvSpPr>
        <p:spPr>
          <a:xfrm>
            <a:off x="1333500" y="1524000"/>
            <a:ext cx="952500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noProof="1">
                <a:solidFill>
                  <a:srgbClr val="1C1917"/>
                </a:solidFill>
                <a:latin typeface="Oranienbaum"/>
                <a:ea typeface="Oranienbaum"/>
              </a:rPr>
              <a:t>Join Corpass</a:t>
            </a:r>
          </a:p>
        </p:txBody>
      </p:sp>
      <p:cxnSp>
        <p:nvCxnSpPr>
          <p:cNvPr id="3" name="dsl:f-line"/>
          <p:cNvCxnSpPr/>
          <p:nvPr/>
        </p:nvCxnSpPr>
        <p:spPr>
          <a:xfrm>
            <a:off x="5143500" y="2381250"/>
            <a:ext cx="1905000" cy="0"/>
          </a:xfrm>
          <a:prstGeom prst="straightConnector1">
            <a:avLst/>
          </a:prstGeom>
          <a:ln w="25400">
            <a:solidFill>
              <a:srgbClr val="A16207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sl:f-buyer"/>
          <p:cNvSpPr txBox="1"/>
          <p:nvPr/>
        </p:nvSpPr>
        <p:spPr>
          <a:xfrm>
            <a:off x="1333500" y="2857500"/>
            <a:ext cx="47625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b="1" sz="1350" noProof="1">
                <a:solidFill>
                  <a:srgbClr val="1C1917"/>
                </a:solidFill>
                <a:latin typeface="Liter"/>
                <a:ea typeface="Liter"/>
              </a:rPr>
              <a:t>For Buyers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C1917"/>
                </a:solidFill>
                <a:latin typeface="Liter"/>
                <a:ea typeface="Liter"/>
              </a:rPr>
              <a:t>Start saving time on procurement today.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64748B"/>
                </a:solidFill>
                <a:latin typeface="Liter"/>
                <a:ea typeface="Liter"/>
              </a:rPr>
              <a:t>Request a demo →</a:t>
            </a:r>
          </a:p>
        </p:txBody>
      </p:sp>
      <p:sp>
        <p:nvSpPr>
          <p:cNvPr id="5" name="dsl:f-seller"/>
          <p:cNvSpPr txBox="1"/>
          <p:nvPr/>
        </p:nvSpPr>
        <p:spPr>
          <a:xfrm>
            <a:off x="6096000" y="2857500"/>
            <a:ext cx="47625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b="1" sz="1350" noProof="1">
                <a:solidFill>
                  <a:srgbClr val="1C1917"/>
                </a:solidFill>
                <a:latin typeface="Liter"/>
                <a:ea typeface="Liter"/>
              </a:rPr>
              <a:t>For Sellers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C1917"/>
                </a:solidFill>
                <a:latin typeface="Liter"/>
                <a:ea typeface="Liter"/>
              </a:rPr>
              <a:t>List your products and reach corporate buyers.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64748B"/>
                </a:solidFill>
                <a:latin typeface="Liter"/>
                <a:ea typeface="Liter"/>
              </a:rPr>
              <a:t>Zero upfront cost →</a:t>
            </a:r>
          </a:p>
        </p:txBody>
      </p:sp>
      <p:sp>
        <p:nvSpPr>
          <p:cNvPr id="6" name="dsl:f-contact"/>
          <p:cNvSpPr txBox="1"/>
          <p:nvPr/>
        </p:nvSpPr>
        <p:spPr>
          <a:xfrm>
            <a:off x="3238500" y="4381500"/>
            <a:ext cx="57150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80000"/>
              </a:lnSpc>
            </a:pPr>
            <a:r>
              <a:rPr sz="1200" noProof="1">
                <a:solidFill>
                  <a:srgbClr val="64748B"/>
                </a:solidFill>
                <a:latin typeface="Liter"/>
                <a:ea typeface="Liter"/>
              </a:rPr>
              <a:t>admin@corpass.in</a:t>
            </a:r>
          </a:p>
          <a:p>
            <a:pPr algn="ctr">
              <a:lnSpc>
                <a:spcPct val="180000"/>
              </a:lnSpc>
            </a:pPr>
            <a:r>
              <a:rPr sz="1200" noProof="1">
                <a:solidFill>
                  <a:srgbClr val="64748B"/>
                </a:solidFill>
                <a:latin typeface="Liter"/>
                <a:ea typeface="Liter"/>
              </a:rPr>
              <a:t>corpass.in</a:t>
            </a:r>
          </a:p>
        </p:txBody>
      </p:sp>
      <p:sp>
        <p:nvSpPr>
          <p:cNvPr id="7" name="dsl:f-tagline"/>
          <p:cNvSpPr txBox="1"/>
          <p:nvPr/>
        </p:nvSpPr>
        <p:spPr>
          <a:xfrm>
            <a:off x="3238500" y="5524500"/>
            <a:ext cx="5715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 spc="150">
                <a:solidFill>
                  <a:srgbClr val="64748B"/>
                </a:solidFill>
                <a:latin typeface="Liter"/>
                <a:ea typeface="Liter"/>
              </a:rPr>
              <a:t>DISCOVER  ·  NEGOTIATE  ·  PURCHASE  · 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copper" value="#a16207"/>
    <Color name="ink" value="#1c1917"/>
    <Color name="slate" value="#64748b"/>
    <Color name="background" value="#fafaf9"/>
    <Color name="surface" value="#f5f5f4"/>
    <Color name="money" value="#166534"/>
    <Color name="border" value="#e7e5e4"/>
  </Colors>
  <TextStyles>
    <TextStyle name="coverTitle" font_size="48.0" color="$ink" font_family="Oranienbaum" line_height="1.2"/>
    <TextStyle name="title" font_size="28.0" color="$ink" font_family="Oranienbaum" line_height="1.3"/>
    <TextStyle name="subtitle" font_size="20.0" color="$slate" font_family="Liter" line_height="1.4"/>
    <TextStyle name="body" font_size="18.0" color="$ink" font_family="Liter" line_height="1.6"/>
    <TextStyle name="bigNumber" font_size="48.0" color="$copper" font_family="Liter" line_height="1.1"/>
    <TextStyle name="caption" font_size="14.0" color="$slate" font_family="Liter" line_height="1.4"/>
    <TextStyle name="chapterNum" font_size="72.0" color="#ffffff" font_family="Oranienbaum" line_height="1.0"/>
    <TextStyle name="chapterTitle" font_size="32.0" color="$ink" font_family="Oranienbaum" line_height="1.3"/>
  </TextStyles>
  <TableStyles>
    <TableStyle name="default" fontSize="16.0" fontFamily="Liter" headerFill="$copper" headerColor="#ffffff" headerBold="true" bodyFill="$background,$surface" bodyColor="$ink" firstColumnBold="false">
      <Border style="solid" width="1.0" color="$border"/>
    </TableStyle>
  </TableStyles>
</DslMetadata>
</file>

<file path=customXml/itemProps1.xml><?xml version="1.0" encoding="utf-8"?>
<ns0:datastoreItem xmlns:ns0="http://schemas.openxmlformats.org/officeDocument/2006/customXml" ns0:itemID="{D1A2BB73-E0C0-492A-8AF7-D1BCBFC6171E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